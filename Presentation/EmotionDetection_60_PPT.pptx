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jpg" ContentType="image/jpg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51013"/>
            <a:ext cx="1630045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 spc="-10"/>
              <a:t>Emotion</a:t>
            </a:r>
            <a:r>
              <a:rPr dirty="0" spc="30"/>
              <a:t> </a:t>
            </a:r>
            <a:r>
              <a:rPr dirty="0" spc="-25"/>
              <a:t>Recognition</a:t>
            </a:r>
            <a:r>
              <a:rPr dirty="0" spc="30"/>
              <a:t> </a:t>
            </a:r>
            <a:r>
              <a:rPr dirty="0" spc="-10"/>
              <a:t>System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/>
              <a:t>MEA</a:t>
            </a:r>
            <a:r>
              <a:rPr dirty="0" spc="80"/>
              <a:t> </a:t>
            </a:r>
            <a:r>
              <a:rPr dirty="0" spc="-25"/>
              <a:t>Engineering</a:t>
            </a:r>
            <a:r>
              <a:rPr dirty="0" spc="85"/>
              <a:t> </a:t>
            </a:r>
            <a:r>
              <a:rPr dirty="0" spc="-20"/>
              <a:t>College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0"/>
              <a:t> </a:t>
            </a:r>
            <a:r>
              <a:rPr dirty="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 spc="-10"/>
              <a:t>Emotion</a:t>
            </a:r>
            <a:r>
              <a:rPr dirty="0" spc="30"/>
              <a:t> </a:t>
            </a:r>
            <a:r>
              <a:rPr dirty="0" spc="-25"/>
              <a:t>Recognition</a:t>
            </a:r>
            <a:r>
              <a:rPr dirty="0" spc="30"/>
              <a:t> </a:t>
            </a:r>
            <a:r>
              <a:rPr dirty="0" spc="-10"/>
              <a:t>System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/>
              <a:t>MEA</a:t>
            </a:r>
            <a:r>
              <a:rPr dirty="0" spc="80"/>
              <a:t> </a:t>
            </a:r>
            <a:r>
              <a:rPr dirty="0" spc="-25"/>
              <a:t>Engineering</a:t>
            </a:r>
            <a:r>
              <a:rPr dirty="0" spc="85"/>
              <a:t> </a:t>
            </a:r>
            <a:r>
              <a:rPr dirty="0" spc="-20"/>
              <a:t>College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0"/>
              <a:t> </a:t>
            </a:r>
            <a:r>
              <a:rPr dirty="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 spc="-10"/>
              <a:t>Emotion</a:t>
            </a:r>
            <a:r>
              <a:rPr dirty="0" spc="30"/>
              <a:t> </a:t>
            </a:r>
            <a:r>
              <a:rPr dirty="0" spc="-25"/>
              <a:t>Recognition</a:t>
            </a:r>
            <a:r>
              <a:rPr dirty="0" spc="30"/>
              <a:t> </a:t>
            </a:r>
            <a:r>
              <a:rPr dirty="0" spc="-10"/>
              <a:t>System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/>
              <a:t>MEA</a:t>
            </a:r>
            <a:r>
              <a:rPr dirty="0" spc="80"/>
              <a:t> </a:t>
            </a:r>
            <a:r>
              <a:rPr dirty="0" spc="-25"/>
              <a:t>Engineering</a:t>
            </a:r>
            <a:r>
              <a:rPr dirty="0" spc="85"/>
              <a:t> </a:t>
            </a:r>
            <a:r>
              <a:rPr dirty="0" spc="-20"/>
              <a:t>College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0"/>
              <a:t> </a:t>
            </a:r>
            <a:r>
              <a:rPr dirty="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 spc="-10"/>
              <a:t>Emotion</a:t>
            </a:r>
            <a:r>
              <a:rPr dirty="0" spc="30"/>
              <a:t> </a:t>
            </a:r>
            <a:r>
              <a:rPr dirty="0" spc="-25"/>
              <a:t>Recognition</a:t>
            </a:r>
            <a:r>
              <a:rPr dirty="0" spc="30"/>
              <a:t> </a:t>
            </a:r>
            <a:r>
              <a:rPr dirty="0" spc="-10"/>
              <a:t>System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/>
              <a:t>MEA</a:t>
            </a:r>
            <a:r>
              <a:rPr dirty="0" spc="80"/>
              <a:t> </a:t>
            </a:r>
            <a:r>
              <a:rPr dirty="0" spc="-25"/>
              <a:t>Engineering</a:t>
            </a:r>
            <a:r>
              <a:rPr dirty="0" spc="85"/>
              <a:t> </a:t>
            </a:r>
            <a:r>
              <a:rPr dirty="0" spc="-20"/>
              <a:t>College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0"/>
              <a:t> </a:t>
            </a:r>
            <a:r>
              <a:rPr dirty="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 spc="-10"/>
              <a:t>Emotion</a:t>
            </a:r>
            <a:r>
              <a:rPr dirty="0" spc="30"/>
              <a:t> </a:t>
            </a:r>
            <a:r>
              <a:rPr dirty="0" spc="-25"/>
              <a:t>Recognition</a:t>
            </a:r>
            <a:r>
              <a:rPr dirty="0" spc="30"/>
              <a:t> </a:t>
            </a:r>
            <a:r>
              <a:rPr dirty="0" spc="-10"/>
              <a:t>System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/>
              <a:t>MEA</a:t>
            </a:r>
            <a:r>
              <a:rPr dirty="0" spc="80"/>
              <a:t> </a:t>
            </a:r>
            <a:r>
              <a:rPr dirty="0" spc="-25"/>
              <a:t>Engineering</a:t>
            </a:r>
            <a:r>
              <a:rPr dirty="0" spc="85"/>
              <a:t> </a:t>
            </a:r>
            <a:r>
              <a:rPr dirty="0" spc="-20"/>
              <a:t>College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0"/>
              <a:t> </a:t>
            </a:r>
            <a:r>
              <a:rPr dirty="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07340"/>
          </a:xfrm>
          <a:custGeom>
            <a:avLst/>
            <a:gdLst/>
            <a:ahLst/>
            <a:cxnLst/>
            <a:rect l="l" t="t" r="r" b="b"/>
            <a:pathLst>
              <a:path w="4608195" h="307340">
                <a:moveTo>
                  <a:pt x="4608004" y="0"/>
                </a:moveTo>
                <a:lnTo>
                  <a:pt x="0" y="0"/>
                </a:lnTo>
                <a:lnTo>
                  <a:pt x="0" y="307098"/>
                </a:lnTo>
                <a:lnTo>
                  <a:pt x="4608004" y="307098"/>
                </a:lnTo>
                <a:lnTo>
                  <a:pt x="4608004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1013"/>
            <a:ext cx="1219835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787030"/>
            <a:ext cx="3832225" cy="2394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787690" y="3350342"/>
            <a:ext cx="1033144" cy="10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 spc="-10"/>
              <a:t>Emotion</a:t>
            </a:r>
            <a:r>
              <a:rPr dirty="0" spc="30"/>
              <a:t> </a:t>
            </a:r>
            <a:r>
              <a:rPr dirty="0" spc="-25"/>
              <a:t>Recognition</a:t>
            </a:r>
            <a:r>
              <a:rPr dirty="0" spc="30"/>
              <a:t> </a:t>
            </a:r>
            <a:r>
              <a:rPr dirty="0" spc="-10"/>
              <a:t>System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7635" y="3350342"/>
            <a:ext cx="917575" cy="10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/>
              <a:t>MEA</a:t>
            </a:r>
            <a:r>
              <a:rPr dirty="0" spc="80"/>
              <a:t> </a:t>
            </a:r>
            <a:r>
              <a:rPr dirty="0" spc="-25"/>
              <a:t>Engineering</a:t>
            </a:r>
            <a:r>
              <a:rPr dirty="0" spc="85"/>
              <a:t> </a:t>
            </a:r>
            <a:r>
              <a:rPr dirty="0" spc="-20"/>
              <a:t>College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299546" y="3351784"/>
            <a:ext cx="28130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0"/>
              <a:t> </a:t>
            </a:r>
            <a:r>
              <a:rPr dirty="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hyperlink" Target="http://www.tensorflow.org/" TargetMode="External"/><Relationship Id="rId4" Type="http://schemas.openxmlformats.org/officeDocument/2006/relationships/hyperlink" Target="http://www.kaggle.com/datasets/msambare/fer2013" TargetMode="External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7743" y="464794"/>
            <a:ext cx="4440555" cy="929640"/>
            <a:chOff x="87743" y="464794"/>
            <a:chExt cx="4440555" cy="929640"/>
          </a:xfrm>
        </p:grpSpPr>
        <p:sp>
          <p:nvSpPr>
            <p:cNvPr id="3" name="object 3" descr=""/>
            <p:cNvSpPr/>
            <p:nvPr/>
          </p:nvSpPr>
          <p:spPr>
            <a:xfrm>
              <a:off x="87743" y="464794"/>
              <a:ext cx="4389755" cy="82550"/>
            </a:xfrm>
            <a:custGeom>
              <a:avLst/>
              <a:gdLst/>
              <a:ahLst/>
              <a:cxnLst/>
              <a:rect l="l" t="t" r="r" b="b"/>
              <a:pathLst>
                <a:path w="4389755" h="82550">
                  <a:moveTo>
                    <a:pt x="4338479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89280" y="82384"/>
                  </a:lnTo>
                  <a:lnTo>
                    <a:pt x="4389280" y="50800"/>
                  </a:lnTo>
                  <a:lnTo>
                    <a:pt x="4385272" y="31075"/>
                  </a:lnTo>
                  <a:lnTo>
                    <a:pt x="4374357" y="14922"/>
                  </a:lnTo>
                  <a:lnTo>
                    <a:pt x="4358204" y="4008"/>
                  </a:lnTo>
                  <a:lnTo>
                    <a:pt x="4338479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38544" y="528053"/>
              <a:ext cx="4389755" cy="866140"/>
            </a:xfrm>
            <a:custGeom>
              <a:avLst/>
              <a:gdLst/>
              <a:ahLst/>
              <a:cxnLst/>
              <a:rect l="l" t="t" r="r" b="b"/>
              <a:pathLst>
                <a:path w="4389755" h="866140">
                  <a:moveTo>
                    <a:pt x="4389280" y="0"/>
                  </a:moveTo>
                  <a:lnTo>
                    <a:pt x="0" y="0"/>
                  </a:lnTo>
                  <a:lnTo>
                    <a:pt x="0" y="865835"/>
                  </a:lnTo>
                  <a:lnTo>
                    <a:pt x="4389280" y="865835"/>
                  </a:lnTo>
                  <a:lnTo>
                    <a:pt x="43892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7743" y="509216"/>
              <a:ext cx="4389755" cy="834390"/>
            </a:xfrm>
            <a:custGeom>
              <a:avLst/>
              <a:gdLst/>
              <a:ahLst/>
              <a:cxnLst/>
              <a:rect l="l" t="t" r="r" b="b"/>
              <a:pathLst>
                <a:path w="4389755" h="834390">
                  <a:moveTo>
                    <a:pt x="4389280" y="0"/>
                  </a:moveTo>
                  <a:lnTo>
                    <a:pt x="0" y="0"/>
                  </a:lnTo>
                  <a:lnTo>
                    <a:pt x="0" y="783071"/>
                  </a:lnTo>
                  <a:lnTo>
                    <a:pt x="4008" y="802796"/>
                  </a:lnTo>
                  <a:lnTo>
                    <a:pt x="14922" y="818949"/>
                  </a:lnTo>
                  <a:lnTo>
                    <a:pt x="31075" y="829863"/>
                  </a:lnTo>
                  <a:lnTo>
                    <a:pt x="50800" y="833872"/>
                  </a:lnTo>
                  <a:lnTo>
                    <a:pt x="4338479" y="833872"/>
                  </a:lnTo>
                  <a:lnTo>
                    <a:pt x="4358204" y="829863"/>
                  </a:lnTo>
                  <a:lnTo>
                    <a:pt x="4374357" y="818949"/>
                  </a:lnTo>
                  <a:lnTo>
                    <a:pt x="4385272" y="802796"/>
                  </a:lnTo>
                  <a:lnTo>
                    <a:pt x="4389280" y="783071"/>
                  </a:lnTo>
                  <a:lnTo>
                    <a:pt x="438928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8544" y="528053"/>
            <a:ext cx="4389755" cy="866140"/>
          </a:xfrm>
          <a:prstGeom prst="rect"/>
        </p:spPr>
        <p:txBody>
          <a:bodyPr wrap="square" lIns="0" tIns="182245" rIns="0" bIns="0" rtlCol="0" vert="horz">
            <a:spAutoFit/>
          </a:bodyPr>
          <a:lstStyle/>
          <a:p>
            <a:pPr marL="715645" marR="809625" indent="22860">
              <a:lnSpc>
                <a:spcPct val="61900"/>
              </a:lnSpc>
              <a:spcBef>
                <a:spcPts val="1435"/>
              </a:spcBef>
            </a:pPr>
            <a:r>
              <a:rPr dirty="0" sz="2450"/>
              <a:t>Real-Time</a:t>
            </a:r>
            <a:r>
              <a:rPr dirty="0" sz="2450" spc="215"/>
              <a:t> </a:t>
            </a:r>
            <a:r>
              <a:rPr dirty="0" sz="2450" spc="-25"/>
              <a:t>Emotion </a:t>
            </a:r>
            <a:r>
              <a:rPr dirty="0" sz="2450" spc="-55"/>
              <a:t>Recognition</a:t>
            </a:r>
            <a:r>
              <a:rPr dirty="0" sz="2450" spc="-20"/>
              <a:t> </a:t>
            </a:r>
            <a:r>
              <a:rPr dirty="0" sz="2450" spc="-85"/>
              <a:t>System</a:t>
            </a:r>
            <a:endParaRPr sz="2450"/>
          </a:p>
        </p:txBody>
      </p:sp>
      <p:sp>
        <p:nvSpPr>
          <p:cNvPr id="7" name="object 7" descr=""/>
          <p:cNvSpPr txBox="1"/>
          <p:nvPr/>
        </p:nvSpPr>
        <p:spPr>
          <a:xfrm>
            <a:off x="1344993" y="1728391"/>
            <a:ext cx="1918335" cy="1453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415"/>
              </a:lnSpc>
              <a:spcBef>
                <a:spcPts val="95"/>
              </a:spcBef>
            </a:pPr>
            <a:r>
              <a:rPr dirty="0" sz="1200" spc="-10" b="1">
                <a:latin typeface="Arial"/>
                <a:cs typeface="Arial"/>
              </a:rPr>
              <a:t>Author: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spc="-65">
                <a:latin typeface="Tahoma"/>
                <a:cs typeface="Tahoma"/>
              </a:rPr>
              <a:t>Muhammed</a:t>
            </a:r>
            <a:r>
              <a:rPr dirty="0" sz="1200" spc="-30">
                <a:latin typeface="Tahoma"/>
                <a:cs typeface="Tahoma"/>
              </a:rPr>
              <a:t> Rishal</a:t>
            </a:r>
            <a:r>
              <a:rPr dirty="0" sz="1200" spc="-50">
                <a:latin typeface="Tahoma"/>
                <a:cs typeface="Tahoma"/>
              </a:rPr>
              <a:t> </a:t>
            </a:r>
            <a:r>
              <a:rPr dirty="0" sz="1200" spc="55">
                <a:latin typeface="Tahoma"/>
                <a:cs typeface="Tahoma"/>
              </a:rPr>
              <a:t>K</a:t>
            </a:r>
            <a:endParaRPr sz="1200">
              <a:latin typeface="Tahoma"/>
              <a:cs typeface="Tahoma"/>
            </a:endParaRPr>
          </a:p>
          <a:p>
            <a:pPr algn="ctr">
              <a:lnSpc>
                <a:spcPts val="1395"/>
              </a:lnSpc>
            </a:pPr>
            <a:r>
              <a:rPr dirty="0" sz="1200" spc="-55" b="1">
                <a:latin typeface="Arial"/>
                <a:cs typeface="Arial"/>
              </a:rPr>
              <a:t>Class:</a:t>
            </a:r>
            <a:r>
              <a:rPr dirty="0" sz="1200" spc="60" b="1">
                <a:latin typeface="Arial"/>
                <a:cs typeface="Arial"/>
              </a:rPr>
              <a:t> </a:t>
            </a:r>
            <a:r>
              <a:rPr dirty="0" sz="1200">
                <a:latin typeface="Tahoma"/>
                <a:cs typeface="Tahoma"/>
              </a:rPr>
              <a:t>S6</a:t>
            </a:r>
            <a:r>
              <a:rPr dirty="0" sz="1200" spc="-80">
                <a:latin typeface="Tahoma"/>
                <a:cs typeface="Tahoma"/>
              </a:rPr>
              <a:t> </a:t>
            </a:r>
            <a:r>
              <a:rPr dirty="0" sz="1200" spc="-20">
                <a:latin typeface="Tahoma"/>
                <a:cs typeface="Tahoma"/>
              </a:rPr>
              <a:t>CSE2</a:t>
            </a:r>
            <a:endParaRPr sz="1200">
              <a:latin typeface="Tahoma"/>
              <a:cs typeface="Tahoma"/>
            </a:endParaRPr>
          </a:p>
          <a:p>
            <a:pPr algn="ctr">
              <a:lnSpc>
                <a:spcPts val="1395"/>
              </a:lnSpc>
            </a:pPr>
            <a:r>
              <a:rPr dirty="0" sz="1200" spc="-10" b="1">
                <a:latin typeface="Arial"/>
                <a:cs typeface="Arial"/>
              </a:rPr>
              <a:t>Reg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No: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spc="-10">
                <a:latin typeface="Tahoma"/>
                <a:cs typeface="Tahoma"/>
              </a:rPr>
              <a:t>MEA23CS060</a:t>
            </a:r>
            <a:endParaRPr sz="1200">
              <a:latin typeface="Tahoma"/>
              <a:cs typeface="Tahoma"/>
            </a:endParaRPr>
          </a:p>
          <a:p>
            <a:pPr algn="ctr">
              <a:lnSpc>
                <a:spcPts val="1395"/>
              </a:lnSpc>
            </a:pPr>
            <a:r>
              <a:rPr dirty="0" sz="1200" spc="-10" b="1">
                <a:latin typeface="Arial"/>
                <a:cs typeface="Arial"/>
              </a:rPr>
              <a:t>Submitted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To: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>
                <a:latin typeface="Tahoma"/>
                <a:cs typeface="Tahoma"/>
              </a:rPr>
              <a:t>HOD</a:t>
            </a:r>
            <a:r>
              <a:rPr dirty="0" sz="1200" spc="-50">
                <a:latin typeface="Tahoma"/>
                <a:cs typeface="Tahoma"/>
              </a:rPr>
              <a:t> </a:t>
            </a:r>
            <a:r>
              <a:rPr dirty="0" sz="1200">
                <a:latin typeface="Tahoma"/>
                <a:cs typeface="Tahoma"/>
              </a:rPr>
              <a:t>of</a:t>
            </a:r>
            <a:r>
              <a:rPr dirty="0" sz="1200" spc="-50">
                <a:latin typeface="Tahoma"/>
                <a:cs typeface="Tahoma"/>
              </a:rPr>
              <a:t> </a:t>
            </a:r>
            <a:r>
              <a:rPr dirty="0" sz="1200" spc="-25">
                <a:latin typeface="Tahoma"/>
                <a:cs typeface="Tahoma"/>
              </a:rPr>
              <a:t>CSE</a:t>
            </a:r>
            <a:endParaRPr sz="1200">
              <a:latin typeface="Tahoma"/>
              <a:cs typeface="Tahoma"/>
            </a:endParaRPr>
          </a:p>
          <a:p>
            <a:pPr algn="ctr">
              <a:lnSpc>
                <a:spcPts val="1415"/>
              </a:lnSpc>
            </a:pPr>
            <a:r>
              <a:rPr dirty="0" sz="1200" b="1">
                <a:latin typeface="Arial"/>
                <a:cs typeface="Arial"/>
              </a:rPr>
              <a:t>D</a:t>
            </a:r>
            <a:r>
              <a:rPr dirty="0" sz="1200">
                <a:latin typeface="Tahoma"/>
                <a:cs typeface="Tahoma"/>
              </a:rPr>
              <a:t>r.</a:t>
            </a:r>
            <a:r>
              <a:rPr dirty="0" sz="1200" spc="135">
                <a:latin typeface="Tahoma"/>
                <a:cs typeface="Tahoma"/>
              </a:rPr>
              <a:t> </a:t>
            </a:r>
            <a:r>
              <a:rPr dirty="0" sz="1200" spc="-65">
                <a:latin typeface="Tahoma"/>
                <a:cs typeface="Tahoma"/>
              </a:rPr>
              <a:t>Najeeb</a:t>
            </a:r>
            <a:r>
              <a:rPr dirty="0" sz="1200" spc="10">
                <a:latin typeface="Tahoma"/>
                <a:cs typeface="Tahoma"/>
              </a:rPr>
              <a:t> </a:t>
            </a:r>
            <a:r>
              <a:rPr dirty="0" sz="1200" spc="55">
                <a:latin typeface="Tahoma"/>
                <a:cs typeface="Tahoma"/>
              </a:rPr>
              <a:t>K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40"/>
              </a:spcBef>
            </a:pPr>
            <a:endParaRPr sz="1200">
              <a:latin typeface="Tahoma"/>
              <a:cs typeface="Tahoma"/>
            </a:endParaRPr>
          </a:p>
          <a:p>
            <a:pPr algn="ctr" marR="1905">
              <a:lnSpc>
                <a:spcPct val="100000"/>
              </a:lnSpc>
            </a:pPr>
            <a:r>
              <a:rPr dirty="0" sz="1200" i="1">
                <a:latin typeface="Arial"/>
                <a:cs typeface="Arial"/>
              </a:rPr>
              <a:t>MEA</a:t>
            </a:r>
            <a:r>
              <a:rPr dirty="0" sz="1200" spc="-50" i="1">
                <a:latin typeface="Arial"/>
                <a:cs typeface="Arial"/>
              </a:rPr>
              <a:t> </a:t>
            </a:r>
            <a:r>
              <a:rPr dirty="0" sz="1200" spc="-65" i="1">
                <a:latin typeface="Arial"/>
                <a:cs typeface="Arial"/>
              </a:rPr>
              <a:t>Engineering</a:t>
            </a:r>
            <a:r>
              <a:rPr dirty="0" sz="1200" spc="-20" i="1">
                <a:latin typeface="Arial"/>
                <a:cs typeface="Arial"/>
              </a:rPr>
              <a:t> </a:t>
            </a:r>
            <a:r>
              <a:rPr dirty="0" sz="1200" spc="-10" i="1"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0" y="3337915"/>
            <a:ext cx="4608195" cy="118110"/>
            <a:chOff x="0" y="3337915"/>
            <a:chExt cx="4608195" cy="118110"/>
          </a:xfrm>
        </p:grpSpPr>
        <p:sp>
          <p:nvSpPr>
            <p:cNvPr id="9" name="object 9" descr=""/>
            <p:cNvSpPr/>
            <p:nvPr/>
          </p:nvSpPr>
          <p:spPr>
            <a:xfrm>
              <a:off x="0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20647" y="3337915"/>
              <a:ext cx="1567180" cy="118110"/>
            </a:xfrm>
            <a:custGeom>
              <a:avLst/>
              <a:gdLst/>
              <a:ahLst/>
              <a:cxnLst/>
              <a:rect l="l" t="t" r="r" b="b"/>
              <a:pathLst>
                <a:path w="1567180" h="118110">
                  <a:moveTo>
                    <a:pt x="156669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66697" y="118084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87357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MEA</a:t>
            </a:r>
            <a:r>
              <a:rPr dirty="0" spc="80"/>
              <a:t> </a:t>
            </a:r>
            <a:r>
              <a:rPr dirty="0" spc="-25"/>
              <a:t>Engineering</a:t>
            </a:r>
            <a:r>
              <a:rPr dirty="0" spc="85"/>
              <a:t> </a:t>
            </a:r>
            <a:r>
              <a:rPr dirty="0" spc="-20"/>
              <a:t>College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 spc="-10"/>
              <a:t>Emotion</a:t>
            </a:r>
            <a:r>
              <a:rPr dirty="0" spc="30"/>
              <a:t> </a:t>
            </a:r>
            <a:r>
              <a:rPr dirty="0" spc="-25"/>
              <a:t>Recognition</a:t>
            </a:r>
            <a:r>
              <a:rPr dirty="0" spc="30"/>
              <a:t> </a:t>
            </a:r>
            <a:r>
              <a:rPr dirty="0" spc="-10"/>
              <a:t>System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30"/>
              <a:t> </a:t>
            </a:r>
            <a:r>
              <a:rPr dirty="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/>
              <a:t>Introduction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31354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72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pc="-25"/>
              <a:t>Emotion</a:t>
            </a:r>
            <a:r>
              <a:rPr dirty="0" spc="-10"/>
              <a:t> </a:t>
            </a:r>
            <a:r>
              <a:rPr dirty="0" spc="-30"/>
              <a:t>recognition</a:t>
            </a:r>
            <a:r>
              <a:rPr dirty="0" spc="-5"/>
              <a:t> </a:t>
            </a:r>
            <a:r>
              <a:rPr dirty="0" spc="-10"/>
              <a:t>is</a:t>
            </a:r>
            <a:r>
              <a:rPr dirty="0" spc="-5"/>
              <a:t> </a:t>
            </a:r>
            <a:r>
              <a:rPr dirty="0" spc="-20"/>
              <a:t>an</a:t>
            </a:r>
            <a:r>
              <a:rPr dirty="0" spc="-5"/>
              <a:t> </a:t>
            </a:r>
            <a:r>
              <a:rPr dirty="0" spc="-30"/>
              <a:t>application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AI</a:t>
            </a:r>
            <a:r>
              <a:rPr dirty="0" spc="-5"/>
              <a:t> </a:t>
            </a:r>
            <a:r>
              <a:rPr dirty="0" spc="-45"/>
              <a:t>and</a:t>
            </a:r>
            <a:r>
              <a:rPr dirty="0" spc="-5"/>
              <a:t> </a:t>
            </a:r>
            <a:r>
              <a:rPr dirty="0" spc="-40"/>
              <a:t>Computer</a:t>
            </a:r>
            <a:r>
              <a:rPr dirty="0" spc="-5"/>
              <a:t> </a:t>
            </a:r>
            <a:r>
              <a:rPr dirty="0" spc="-10"/>
              <a:t>Vision.</a:t>
            </a:r>
          </a:p>
          <a:p>
            <a:pPr marL="12700" marR="387350">
              <a:lnSpc>
                <a:spcPct val="102600"/>
              </a:lnSpc>
              <a:spcBef>
                <a:spcPts val="300"/>
              </a:spcBef>
            </a:pPr>
            <a:r>
              <a:rPr dirty="0" spc="-60"/>
              <a:t>Helps</a:t>
            </a:r>
            <a:r>
              <a:rPr dirty="0" spc="-15"/>
              <a:t> </a:t>
            </a:r>
            <a:r>
              <a:rPr dirty="0" spc="-65"/>
              <a:t>machines</a:t>
            </a:r>
            <a:r>
              <a:rPr dirty="0" spc="-10"/>
              <a:t> </a:t>
            </a:r>
            <a:r>
              <a:rPr dirty="0" spc="-45"/>
              <a:t>understand</a:t>
            </a:r>
            <a:r>
              <a:rPr dirty="0" spc="-15"/>
              <a:t> </a:t>
            </a:r>
            <a:r>
              <a:rPr dirty="0" spc="-45"/>
              <a:t>human</a:t>
            </a:r>
            <a:r>
              <a:rPr dirty="0" spc="-10"/>
              <a:t> </a:t>
            </a:r>
            <a:r>
              <a:rPr dirty="0" spc="-40"/>
              <a:t>emotions</a:t>
            </a:r>
            <a:r>
              <a:rPr dirty="0" spc="-15"/>
              <a:t> </a:t>
            </a:r>
            <a:r>
              <a:rPr dirty="0" spc="-10"/>
              <a:t>through </a:t>
            </a:r>
            <a:r>
              <a:rPr dirty="0" spc="-20"/>
              <a:t>facial </a:t>
            </a:r>
            <a:r>
              <a:rPr dirty="0" spc="-10"/>
              <a:t>expressions.</a:t>
            </a:r>
          </a:p>
          <a:p>
            <a:pPr marL="12700" marR="211454">
              <a:lnSpc>
                <a:spcPct val="125299"/>
              </a:lnSpc>
            </a:pPr>
            <a:r>
              <a:rPr dirty="0" spc="-80"/>
              <a:t>Used</a:t>
            </a:r>
            <a:r>
              <a:rPr dirty="0" spc="10"/>
              <a:t> </a:t>
            </a:r>
            <a:r>
              <a:rPr dirty="0"/>
              <a:t>in</a:t>
            </a:r>
            <a:r>
              <a:rPr dirty="0" spc="10"/>
              <a:t> </a:t>
            </a:r>
            <a:r>
              <a:rPr dirty="0" spc="-45"/>
              <a:t>healthcare,</a:t>
            </a:r>
            <a:r>
              <a:rPr dirty="0" spc="10"/>
              <a:t> </a:t>
            </a:r>
            <a:r>
              <a:rPr dirty="0" spc="-45"/>
              <a:t>security,</a:t>
            </a:r>
            <a:r>
              <a:rPr dirty="0" spc="10"/>
              <a:t> </a:t>
            </a:r>
            <a:r>
              <a:rPr dirty="0" spc="-45"/>
              <a:t>and</a:t>
            </a:r>
            <a:r>
              <a:rPr dirty="0" spc="10"/>
              <a:t> </a:t>
            </a:r>
            <a:r>
              <a:rPr dirty="0" spc="-55"/>
              <a:t>human-</a:t>
            </a:r>
            <a:r>
              <a:rPr dirty="0" spc="-40"/>
              <a:t>computer</a:t>
            </a:r>
            <a:r>
              <a:rPr dirty="0" spc="10"/>
              <a:t> </a:t>
            </a:r>
            <a:r>
              <a:rPr dirty="0" spc="-10"/>
              <a:t>interaction. This</a:t>
            </a:r>
            <a:r>
              <a:rPr dirty="0" spc="-5"/>
              <a:t> </a:t>
            </a:r>
            <a:r>
              <a:rPr dirty="0" spc="-65"/>
              <a:t>system</a:t>
            </a:r>
            <a:r>
              <a:rPr dirty="0" spc="-5"/>
              <a:t> </a:t>
            </a:r>
            <a:r>
              <a:rPr dirty="0" spc="-35"/>
              <a:t>detects</a:t>
            </a:r>
            <a:r>
              <a:rPr dirty="0" spc="-5"/>
              <a:t> </a:t>
            </a:r>
            <a:r>
              <a:rPr dirty="0" spc="-40"/>
              <a:t>emotions</a:t>
            </a:r>
            <a:r>
              <a:rPr dirty="0"/>
              <a:t> in</a:t>
            </a:r>
            <a:r>
              <a:rPr dirty="0" spc="-5"/>
              <a:t> </a:t>
            </a:r>
            <a:r>
              <a:rPr dirty="0" spc="-40"/>
              <a:t>real-</a:t>
            </a:r>
            <a:r>
              <a:rPr dirty="0" spc="-10"/>
              <a:t>time</a:t>
            </a:r>
            <a:r>
              <a:rPr dirty="0" spc="-5"/>
              <a:t> </a:t>
            </a:r>
            <a:r>
              <a:rPr dirty="0" spc="-50"/>
              <a:t>using</a:t>
            </a:r>
            <a:r>
              <a:rPr dirty="0"/>
              <a:t> </a:t>
            </a:r>
            <a:r>
              <a:rPr dirty="0" spc="-10"/>
              <a:t>webcam.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41386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23491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33524"/>
            <a:ext cx="65265" cy="65265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0" y="3337915"/>
            <a:ext cx="4608195" cy="118110"/>
            <a:chOff x="0" y="3337915"/>
            <a:chExt cx="4608195" cy="118110"/>
          </a:xfrm>
        </p:grpSpPr>
        <p:sp>
          <p:nvSpPr>
            <p:cNvPr id="9" name="object 9" descr=""/>
            <p:cNvSpPr/>
            <p:nvPr/>
          </p:nvSpPr>
          <p:spPr>
            <a:xfrm>
              <a:off x="0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20647" y="3337915"/>
              <a:ext cx="1567180" cy="118110"/>
            </a:xfrm>
            <a:custGeom>
              <a:avLst/>
              <a:gdLst/>
              <a:ahLst/>
              <a:cxnLst/>
              <a:rect l="l" t="t" r="r" b="b"/>
              <a:pathLst>
                <a:path w="1567180" h="118110">
                  <a:moveTo>
                    <a:pt x="156669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66697" y="118084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87357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MEA</a:t>
            </a:r>
            <a:r>
              <a:rPr dirty="0" spc="80"/>
              <a:t> </a:t>
            </a:r>
            <a:r>
              <a:rPr dirty="0" spc="-25"/>
              <a:t>Engineering</a:t>
            </a:r>
            <a:r>
              <a:rPr dirty="0" spc="85"/>
              <a:t> </a:t>
            </a:r>
            <a:r>
              <a:rPr dirty="0" spc="-20"/>
              <a:t>College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 spc="-10"/>
              <a:t>Emotion</a:t>
            </a:r>
            <a:r>
              <a:rPr dirty="0" spc="30"/>
              <a:t> </a:t>
            </a:r>
            <a:r>
              <a:rPr dirty="0" spc="-25"/>
              <a:t>Recognition</a:t>
            </a:r>
            <a:r>
              <a:rPr dirty="0" spc="30"/>
              <a:t> </a:t>
            </a:r>
            <a:r>
              <a:rPr dirty="0" spc="-10"/>
              <a:t>System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30"/>
              <a:t> </a:t>
            </a:r>
            <a:r>
              <a:rPr dirty="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Problem</a:t>
            </a:r>
            <a:r>
              <a:rPr dirty="0" spc="5"/>
              <a:t> </a:t>
            </a:r>
            <a:r>
              <a:rPr dirty="0" spc="-10"/>
              <a:t>Statement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84198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02932" y="1256967"/>
            <a:ext cx="3275965" cy="655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dirty="0" sz="1100" spc="-50">
                <a:latin typeface="Arial MT"/>
                <a:cs typeface="Arial MT"/>
              </a:rPr>
              <a:t>Machines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cannot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naturally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understand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human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emotions. </a:t>
            </a:r>
            <a:r>
              <a:rPr dirty="0" sz="1100" spc="-75">
                <a:latin typeface="Arial MT"/>
                <a:cs typeface="Arial MT"/>
              </a:rPr>
              <a:t>Need</a:t>
            </a:r>
            <a:r>
              <a:rPr dirty="0" sz="1100">
                <a:latin typeface="Arial MT"/>
                <a:cs typeface="Arial MT"/>
              </a:rPr>
              <a:t> for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automated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emotion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detection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systems.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>
                <a:latin typeface="Arial MT"/>
                <a:cs typeface="Arial MT"/>
              </a:rPr>
              <a:t>Build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real-</a:t>
            </a:r>
            <a:r>
              <a:rPr dirty="0" sz="1100" spc="-10">
                <a:latin typeface="Arial MT"/>
                <a:cs typeface="Arial MT"/>
              </a:rPr>
              <a:t>time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accurate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efficient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system.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94231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04263"/>
            <a:ext cx="65265" cy="65265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0" y="3337915"/>
            <a:ext cx="4608195" cy="118110"/>
            <a:chOff x="0" y="3337915"/>
            <a:chExt cx="4608195" cy="118110"/>
          </a:xfrm>
        </p:grpSpPr>
        <p:sp>
          <p:nvSpPr>
            <p:cNvPr id="8" name="object 8" descr=""/>
            <p:cNvSpPr/>
            <p:nvPr/>
          </p:nvSpPr>
          <p:spPr>
            <a:xfrm>
              <a:off x="0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520647" y="3337915"/>
              <a:ext cx="1567180" cy="118110"/>
            </a:xfrm>
            <a:custGeom>
              <a:avLst/>
              <a:gdLst/>
              <a:ahLst/>
              <a:cxnLst/>
              <a:rect l="l" t="t" r="r" b="b"/>
              <a:pathLst>
                <a:path w="1567180" h="118110">
                  <a:moveTo>
                    <a:pt x="156669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66697" y="118084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87357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MEA</a:t>
            </a:r>
            <a:r>
              <a:rPr dirty="0" spc="80"/>
              <a:t> </a:t>
            </a:r>
            <a:r>
              <a:rPr dirty="0" spc="-25"/>
              <a:t>Engineering</a:t>
            </a:r>
            <a:r>
              <a:rPr dirty="0" spc="85"/>
              <a:t> </a:t>
            </a:r>
            <a:r>
              <a:rPr dirty="0" spc="-20"/>
              <a:t>College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 spc="-10"/>
              <a:t>Emotion</a:t>
            </a:r>
            <a:r>
              <a:rPr dirty="0" spc="30"/>
              <a:t> </a:t>
            </a:r>
            <a:r>
              <a:rPr dirty="0" spc="-25"/>
              <a:t>Recognition</a:t>
            </a:r>
            <a:r>
              <a:rPr dirty="0" spc="30"/>
              <a:t> </a:t>
            </a:r>
            <a:r>
              <a:rPr dirty="0" spc="-10"/>
              <a:t>System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30"/>
              <a:t> </a:t>
            </a:r>
            <a:r>
              <a:rPr dirty="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Objectives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00187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02932" y="1172957"/>
            <a:ext cx="2907665" cy="866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dirty="0" sz="1100" spc="-55">
                <a:latin typeface="Arial MT"/>
                <a:cs typeface="Arial MT"/>
              </a:rPr>
              <a:t>Develop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CNN-</a:t>
            </a:r>
            <a:r>
              <a:rPr dirty="0" sz="1100" spc="-80">
                <a:latin typeface="Arial MT"/>
                <a:cs typeface="Arial MT"/>
              </a:rPr>
              <a:t>based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emotion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classification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model. </a:t>
            </a:r>
            <a:r>
              <a:rPr dirty="0" sz="1100" spc="-10">
                <a:latin typeface="Arial MT"/>
                <a:cs typeface="Arial MT"/>
              </a:rPr>
              <a:t>Train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model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using</a:t>
            </a:r>
            <a:r>
              <a:rPr dirty="0" sz="1100" spc="-20">
                <a:latin typeface="Arial MT"/>
                <a:cs typeface="Arial MT"/>
              </a:rPr>
              <a:t> facial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expression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dataset.</a:t>
            </a:r>
            <a:endParaRPr sz="1100">
              <a:latin typeface="Arial MT"/>
              <a:cs typeface="Arial MT"/>
            </a:endParaRPr>
          </a:p>
          <a:p>
            <a:pPr marL="12700" marR="690245">
              <a:lnSpc>
                <a:spcPct val="125299"/>
              </a:lnSpc>
            </a:pPr>
            <a:r>
              <a:rPr dirty="0" sz="1100" spc="-25">
                <a:latin typeface="Arial MT"/>
                <a:cs typeface="Arial MT"/>
              </a:rPr>
              <a:t>Integrate</a:t>
            </a:r>
            <a:r>
              <a:rPr dirty="0" sz="1100">
                <a:latin typeface="Arial MT"/>
                <a:cs typeface="Arial MT"/>
              </a:rPr>
              <a:t> with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real-</a:t>
            </a:r>
            <a:r>
              <a:rPr dirty="0" sz="1100" spc="-10">
                <a:latin typeface="Arial MT"/>
                <a:cs typeface="Arial MT"/>
              </a:rPr>
              <a:t>time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webcam. </a:t>
            </a:r>
            <a:r>
              <a:rPr dirty="0" sz="1100" spc="-60">
                <a:latin typeface="Arial MT"/>
                <a:cs typeface="Arial MT"/>
              </a:rPr>
              <a:t>Achieve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accurate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fast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predictions.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10220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20253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30285"/>
            <a:ext cx="65265" cy="65265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0" y="3337915"/>
            <a:ext cx="4608195" cy="118110"/>
            <a:chOff x="0" y="3337915"/>
            <a:chExt cx="4608195" cy="118110"/>
          </a:xfrm>
        </p:grpSpPr>
        <p:sp>
          <p:nvSpPr>
            <p:cNvPr id="9" name="object 9" descr=""/>
            <p:cNvSpPr/>
            <p:nvPr/>
          </p:nvSpPr>
          <p:spPr>
            <a:xfrm>
              <a:off x="0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20647" y="3337915"/>
              <a:ext cx="1567180" cy="118110"/>
            </a:xfrm>
            <a:custGeom>
              <a:avLst/>
              <a:gdLst/>
              <a:ahLst/>
              <a:cxnLst/>
              <a:rect l="l" t="t" r="r" b="b"/>
              <a:pathLst>
                <a:path w="1567180" h="118110">
                  <a:moveTo>
                    <a:pt x="156669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66697" y="118084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87357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MEA</a:t>
            </a:r>
            <a:r>
              <a:rPr dirty="0" spc="80"/>
              <a:t> </a:t>
            </a:r>
            <a:r>
              <a:rPr dirty="0" spc="-25"/>
              <a:t>Engineering</a:t>
            </a:r>
            <a:r>
              <a:rPr dirty="0" spc="85"/>
              <a:t> </a:t>
            </a:r>
            <a:r>
              <a:rPr dirty="0" spc="-20"/>
              <a:t>College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 spc="-10"/>
              <a:t>Emotion</a:t>
            </a:r>
            <a:r>
              <a:rPr dirty="0" spc="30"/>
              <a:t> </a:t>
            </a:r>
            <a:r>
              <a:rPr dirty="0" spc="-25"/>
              <a:t>Recognition</a:t>
            </a:r>
            <a:r>
              <a:rPr dirty="0" spc="30"/>
              <a:t> </a:t>
            </a:r>
            <a:r>
              <a:rPr dirty="0" spc="-10"/>
              <a:t>System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30"/>
              <a:t> </a:t>
            </a:r>
            <a:r>
              <a:rPr dirty="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Scope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30"/>
              <a:t> </a:t>
            </a:r>
            <a:r>
              <a:rPr dirty="0"/>
              <a:t>the</a:t>
            </a:r>
            <a:r>
              <a:rPr dirty="0" spc="25"/>
              <a:t> </a:t>
            </a:r>
            <a:r>
              <a:rPr dirty="0" spc="-20"/>
              <a:t>Work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00187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02932" y="1172957"/>
            <a:ext cx="3759200" cy="866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dirty="0" sz="1100" spc="-10">
                <a:latin typeface="Arial MT"/>
                <a:cs typeface="Arial MT"/>
              </a:rPr>
              <a:t>Detect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emotions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like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Happy,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Sad,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Angry,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Neutral,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Fear,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Surprise. </a:t>
            </a:r>
            <a:r>
              <a:rPr dirty="0" sz="1100" spc="-50">
                <a:latin typeface="Arial MT"/>
                <a:cs typeface="Arial MT"/>
              </a:rPr>
              <a:t>Real-</a:t>
            </a:r>
            <a:r>
              <a:rPr dirty="0" sz="1100" spc="-20">
                <a:latin typeface="Arial MT"/>
                <a:cs typeface="Arial MT"/>
              </a:rPr>
              <a:t>time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processing.</a:t>
            </a:r>
            <a:endParaRPr sz="1100">
              <a:latin typeface="Arial MT"/>
              <a:cs typeface="Arial MT"/>
            </a:endParaRPr>
          </a:p>
          <a:p>
            <a:pPr marL="12700" marR="1221105">
              <a:lnSpc>
                <a:spcPct val="125299"/>
              </a:lnSpc>
            </a:pPr>
            <a:r>
              <a:rPr dirty="0" sz="1100" spc="-50">
                <a:latin typeface="Arial MT"/>
                <a:cs typeface="Arial MT"/>
              </a:rPr>
              <a:t>Extendable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web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mobile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applications. </a:t>
            </a:r>
            <a:r>
              <a:rPr dirty="0" sz="1100" spc="-45">
                <a:latin typeface="Arial MT"/>
                <a:cs typeface="Arial MT"/>
              </a:rPr>
              <a:t>Useful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mental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health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monitoring.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10220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20253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30285"/>
            <a:ext cx="65265" cy="65265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0" y="3337915"/>
            <a:ext cx="4608195" cy="118110"/>
            <a:chOff x="0" y="3337915"/>
            <a:chExt cx="4608195" cy="118110"/>
          </a:xfrm>
        </p:grpSpPr>
        <p:sp>
          <p:nvSpPr>
            <p:cNvPr id="9" name="object 9" descr=""/>
            <p:cNvSpPr/>
            <p:nvPr/>
          </p:nvSpPr>
          <p:spPr>
            <a:xfrm>
              <a:off x="0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20647" y="3337915"/>
              <a:ext cx="1567180" cy="118110"/>
            </a:xfrm>
            <a:custGeom>
              <a:avLst/>
              <a:gdLst/>
              <a:ahLst/>
              <a:cxnLst/>
              <a:rect l="l" t="t" r="r" b="b"/>
              <a:pathLst>
                <a:path w="1567180" h="118110">
                  <a:moveTo>
                    <a:pt x="156669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66697" y="118084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87357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MEA</a:t>
            </a:r>
            <a:r>
              <a:rPr dirty="0" spc="80"/>
              <a:t> </a:t>
            </a:r>
            <a:r>
              <a:rPr dirty="0" spc="-25"/>
              <a:t>Engineering</a:t>
            </a:r>
            <a:r>
              <a:rPr dirty="0" spc="85"/>
              <a:t> </a:t>
            </a:r>
            <a:r>
              <a:rPr dirty="0" spc="-20"/>
              <a:t>College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 spc="-10"/>
              <a:t>Emotion</a:t>
            </a:r>
            <a:r>
              <a:rPr dirty="0" spc="30"/>
              <a:t> </a:t>
            </a:r>
            <a:r>
              <a:rPr dirty="0" spc="-25"/>
              <a:t>Recognition</a:t>
            </a:r>
            <a:r>
              <a:rPr dirty="0" spc="30"/>
              <a:t> </a:t>
            </a:r>
            <a:r>
              <a:rPr dirty="0" spc="-10"/>
              <a:t>System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30"/>
              <a:t> </a:t>
            </a:r>
            <a:r>
              <a:rPr dirty="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51013"/>
            <a:ext cx="131381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60" b="1">
                <a:latin typeface="Arial"/>
                <a:cs typeface="Arial"/>
              </a:rPr>
              <a:t>Technologies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 spc="-40" b="1">
                <a:latin typeface="Arial"/>
                <a:cs typeface="Arial"/>
              </a:rPr>
              <a:t>Used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13091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02932" y="1085873"/>
            <a:ext cx="1297940" cy="107569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 spc="-10">
                <a:latin typeface="Arial MT"/>
                <a:cs typeface="Arial MT"/>
              </a:rPr>
              <a:t>Python</a:t>
            </a:r>
            <a:endParaRPr sz="1100">
              <a:latin typeface="Arial MT"/>
              <a:cs typeface="Arial MT"/>
            </a:endParaRPr>
          </a:p>
          <a:p>
            <a:pPr marL="12700" marR="137160">
              <a:lnSpc>
                <a:spcPct val="125299"/>
              </a:lnSpc>
            </a:pPr>
            <a:r>
              <a:rPr dirty="0" sz="1100" spc="-60">
                <a:latin typeface="Arial MT"/>
                <a:cs typeface="Arial MT"/>
              </a:rPr>
              <a:t>TensorFlow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240">
                <a:latin typeface="Arial MT"/>
                <a:cs typeface="Arial MT"/>
              </a:rPr>
              <a:t>/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Keras </a:t>
            </a:r>
            <a:r>
              <a:rPr dirty="0" sz="1100" spc="-10">
                <a:latin typeface="Arial MT"/>
                <a:cs typeface="Arial MT"/>
              </a:rPr>
              <a:t>OpenCV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100" spc="-10">
                <a:latin typeface="Arial MT"/>
                <a:cs typeface="Arial MT"/>
              </a:rPr>
              <a:t>NumPy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100" spc="-20">
                <a:latin typeface="Arial MT"/>
                <a:cs typeface="Arial MT"/>
              </a:rPr>
              <a:t>CNN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(Deep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Learning)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23123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33156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843189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053221"/>
            <a:ext cx="65265" cy="65265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0" y="3337915"/>
            <a:ext cx="4608195" cy="118110"/>
            <a:chOff x="0" y="3337915"/>
            <a:chExt cx="4608195" cy="118110"/>
          </a:xfrm>
        </p:grpSpPr>
        <p:sp>
          <p:nvSpPr>
            <p:cNvPr id="10" name="object 10" descr=""/>
            <p:cNvSpPr/>
            <p:nvPr/>
          </p:nvSpPr>
          <p:spPr>
            <a:xfrm>
              <a:off x="0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520647" y="3337915"/>
              <a:ext cx="1567180" cy="118110"/>
            </a:xfrm>
            <a:custGeom>
              <a:avLst/>
              <a:gdLst/>
              <a:ahLst/>
              <a:cxnLst/>
              <a:rect l="l" t="t" r="r" b="b"/>
              <a:pathLst>
                <a:path w="1567180" h="118110">
                  <a:moveTo>
                    <a:pt x="156669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66697" y="118084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087357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MEA</a:t>
            </a:r>
            <a:r>
              <a:rPr dirty="0" spc="80"/>
              <a:t> </a:t>
            </a:r>
            <a:r>
              <a:rPr dirty="0" spc="-25"/>
              <a:t>Engineering</a:t>
            </a:r>
            <a:r>
              <a:rPr dirty="0" spc="85"/>
              <a:t> </a:t>
            </a:r>
            <a:r>
              <a:rPr dirty="0" spc="-20"/>
              <a:t>College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 spc="-10"/>
              <a:t>Emotion</a:t>
            </a:r>
            <a:r>
              <a:rPr dirty="0" spc="30"/>
              <a:t> </a:t>
            </a:r>
            <a:r>
              <a:rPr dirty="0" spc="-25"/>
              <a:t>Recognition</a:t>
            </a:r>
            <a:r>
              <a:rPr dirty="0" spc="30"/>
              <a:t> </a:t>
            </a:r>
            <a:r>
              <a:rPr dirty="0" spc="-10"/>
              <a:t>System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30"/>
              <a:t> </a:t>
            </a:r>
            <a:r>
              <a:rPr dirty="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51013"/>
            <a:ext cx="105473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30" b="1">
                <a:latin typeface="Arial"/>
                <a:cs typeface="Arial"/>
              </a:rPr>
              <a:t>System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0" b="1">
                <a:latin typeface="Arial"/>
                <a:cs typeface="Arial"/>
              </a:rPr>
              <a:t>Design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763989" y="534454"/>
            <a:ext cx="1080135" cy="324485"/>
          </a:xfrm>
          <a:custGeom>
            <a:avLst/>
            <a:gdLst/>
            <a:ahLst/>
            <a:cxnLst/>
            <a:rect l="l" t="t" r="r" b="b"/>
            <a:pathLst>
              <a:path w="1080135" h="324484">
                <a:moveTo>
                  <a:pt x="1029402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73390"/>
                </a:lnTo>
                <a:lnTo>
                  <a:pt x="3977" y="293090"/>
                </a:lnTo>
                <a:lnTo>
                  <a:pt x="14823" y="309178"/>
                </a:lnTo>
                <a:lnTo>
                  <a:pt x="30910" y="320024"/>
                </a:lnTo>
                <a:lnTo>
                  <a:pt x="50610" y="324001"/>
                </a:lnTo>
                <a:lnTo>
                  <a:pt x="1029402" y="324001"/>
                </a:lnTo>
                <a:lnTo>
                  <a:pt x="1049102" y="320024"/>
                </a:lnTo>
                <a:lnTo>
                  <a:pt x="1065190" y="309178"/>
                </a:lnTo>
                <a:lnTo>
                  <a:pt x="1076036" y="293090"/>
                </a:lnTo>
                <a:lnTo>
                  <a:pt x="1080013" y="273390"/>
                </a:lnTo>
                <a:lnTo>
                  <a:pt x="1080013" y="50610"/>
                </a:lnTo>
                <a:lnTo>
                  <a:pt x="1076036" y="30910"/>
                </a:lnTo>
                <a:lnTo>
                  <a:pt x="1065190" y="14823"/>
                </a:lnTo>
                <a:lnTo>
                  <a:pt x="1049102" y="3977"/>
                </a:lnTo>
                <a:lnTo>
                  <a:pt x="1029402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902409" y="588865"/>
            <a:ext cx="8032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Arial MT"/>
                <a:cs typeface="Arial MT"/>
              </a:rPr>
              <a:t>Webcam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Input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763989" y="1074461"/>
            <a:ext cx="1080135" cy="864235"/>
          </a:xfrm>
          <a:custGeom>
            <a:avLst/>
            <a:gdLst/>
            <a:ahLst/>
            <a:cxnLst/>
            <a:rect l="l" t="t" r="r" b="b"/>
            <a:pathLst>
              <a:path w="1080135" h="864235">
                <a:moveTo>
                  <a:pt x="1029402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73390"/>
                </a:lnTo>
                <a:lnTo>
                  <a:pt x="3977" y="293091"/>
                </a:lnTo>
                <a:lnTo>
                  <a:pt x="14823" y="309178"/>
                </a:lnTo>
                <a:lnTo>
                  <a:pt x="30910" y="320024"/>
                </a:lnTo>
                <a:lnTo>
                  <a:pt x="50610" y="324001"/>
                </a:lnTo>
                <a:lnTo>
                  <a:pt x="1029402" y="324001"/>
                </a:lnTo>
                <a:lnTo>
                  <a:pt x="1049102" y="320024"/>
                </a:lnTo>
                <a:lnTo>
                  <a:pt x="1065190" y="309178"/>
                </a:lnTo>
                <a:lnTo>
                  <a:pt x="1076036" y="293091"/>
                </a:lnTo>
                <a:lnTo>
                  <a:pt x="1080013" y="273390"/>
                </a:lnTo>
                <a:lnTo>
                  <a:pt x="1080013" y="50610"/>
                </a:lnTo>
                <a:lnTo>
                  <a:pt x="1076036" y="30910"/>
                </a:lnTo>
                <a:lnTo>
                  <a:pt x="1065190" y="14823"/>
                </a:lnTo>
                <a:lnTo>
                  <a:pt x="1049102" y="3977"/>
                </a:lnTo>
                <a:lnTo>
                  <a:pt x="1029402" y="0"/>
                </a:lnTo>
                <a:close/>
              </a:path>
              <a:path w="1080135" h="864235">
                <a:moveTo>
                  <a:pt x="1029402" y="540006"/>
                </a:moveTo>
                <a:lnTo>
                  <a:pt x="50610" y="540006"/>
                </a:lnTo>
                <a:lnTo>
                  <a:pt x="30910" y="543983"/>
                </a:lnTo>
                <a:lnTo>
                  <a:pt x="14823" y="554830"/>
                </a:lnTo>
                <a:lnTo>
                  <a:pt x="3977" y="570917"/>
                </a:lnTo>
                <a:lnTo>
                  <a:pt x="0" y="590617"/>
                </a:lnTo>
                <a:lnTo>
                  <a:pt x="0" y="813397"/>
                </a:lnTo>
                <a:lnTo>
                  <a:pt x="3977" y="833097"/>
                </a:lnTo>
                <a:lnTo>
                  <a:pt x="14823" y="849185"/>
                </a:lnTo>
                <a:lnTo>
                  <a:pt x="30910" y="860031"/>
                </a:lnTo>
                <a:lnTo>
                  <a:pt x="50610" y="864008"/>
                </a:lnTo>
                <a:lnTo>
                  <a:pt x="1029402" y="864008"/>
                </a:lnTo>
                <a:lnTo>
                  <a:pt x="1049102" y="860031"/>
                </a:lnTo>
                <a:lnTo>
                  <a:pt x="1065190" y="849185"/>
                </a:lnTo>
                <a:lnTo>
                  <a:pt x="1076036" y="833097"/>
                </a:lnTo>
                <a:lnTo>
                  <a:pt x="1080013" y="813397"/>
                </a:lnTo>
                <a:lnTo>
                  <a:pt x="1080013" y="590617"/>
                </a:lnTo>
                <a:lnTo>
                  <a:pt x="1076036" y="570917"/>
                </a:lnTo>
                <a:lnTo>
                  <a:pt x="1065190" y="554830"/>
                </a:lnTo>
                <a:lnTo>
                  <a:pt x="1049102" y="543983"/>
                </a:lnTo>
                <a:lnTo>
                  <a:pt x="1029402" y="540006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894154" y="1141163"/>
            <a:ext cx="820419" cy="705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70">
                <a:latin typeface="Arial MT"/>
                <a:cs typeface="Arial MT"/>
              </a:rPr>
              <a:t>Face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Detection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000">
              <a:latin typeface="Arial MT"/>
              <a:cs typeface="Arial MT"/>
            </a:endParaRPr>
          </a:p>
          <a:p>
            <a:pPr marL="49530">
              <a:lnSpc>
                <a:spcPct val="100000"/>
              </a:lnSpc>
            </a:pPr>
            <a:r>
              <a:rPr dirty="0" sz="1000" spc="-35">
                <a:latin typeface="Arial MT"/>
                <a:cs typeface="Arial MT"/>
              </a:rPr>
              <a:t>Preprocessing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763989" y="2154474"/>
            <a:ext cx="1080135" cy="864235"/>
          </a:xfrm>
          <a:custGeom>
            <a:avLst/>
            <a:gdLst/>
            <a:ahLst/>
            <a:cxnLst/>
            <a:rect l="l" t="t" r="r" b="b"/>
            <a:pathLst>
              <a:path w="1080135" h="864235">
                <a:moveTo>
                  <a:pt x="1029402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73391"/>
                </a:lnTo>
                <a:lnTo>
                  <a:pt x="3977" y="293091"/>
                </a:lnTo>
                <a:lnTo>
                  <a:pt x="14823" y="309178"/>
                </a:lnTo>
                <a:lnTo>
                  <a:pt x="30910" y="320024"/>
                </a:lnTo>
                <a:lnTo>
                  <a:pt x="50610" y="324002"/>
                </a:lnTo>
                <a:lnTo>
                  <a:pt x="1029402" y="324002"/>
                </a:lnTo>
                <a:lnTo>
                  <a:pt x="1049102" y="320024"/>
                </a:lnTo>
                <a:lnTo>
                  <a:pt x="1065190" y="309178"/>
                </a:lnTo>
                <a:lnTo>
                  <a:pt x="1076036" y="293091"/>
                </a:lnTo>
                <a:lnTo>
                  <a:pt x="1080013" y="273391"/>
                </a:lnTo>
                <a:lnTo>
                  <a:pt x="1080013" y="50610"/>
                </a:lnTo>
                <a:lnTo>
                  <a:pt x="1076036" y="30910"/>
                </a:lnTo>
                <a:lnTo>
                  <a:pt x="1065190" y="14823"/>
                </a:lnTo>
                <a:lnTo>
                  <a:pt x="1049102" y="3977"/>
                </a:lnTo>
                <a:lnTo>
                  <a:pt x="1029402" y="0"/>
                </a:lnTo>
                <a:close/>
              </a:path>
              <a:path w="1080135" h="864235">
                <a:moveTo>
                  <a:pt x="1029402" y="540006"/>
                </a:moveTo>
                <a:lnTo>
                  <a:pt x="50610" y="540006"/>
                </a:lnTo>
                <a:lnTo>
                  <a:pt x="30910" y="543984"/>
                </a:lnTo>
                <a:lnTo>
                  <a:pt x="14823" y="554830"/>
                </a:lnTo>
                <a:lnTo>
                  <a:pt x="3977" y="570917"/>
                </a:lnTo>
                <a:lnTo>
                  <a:pt x="0" y="590617"/>
                </a:lnTo>
                <a:lnTo>
                  <a:pt x="0" y="813398"/>
                </a:lnTo>
                <a:lnTo>
                  <a:pt x="3977" y="833098"/>
                </a:lnTo>
                <a:lnTo>
                  <a:pt x="14823" y="849185"/>
                </a:lnTo>
                <a:lnTo>
                  <a:pt x="30910" y="860031"/>
                </a:lnTo>
                <a:lnTo>
                  <a:pt x="50610" y="864008"/>
                </a:lnTo>
                <a:lnTo>
                  <a:pt x="1029402" y="864008"/>
                </a:lnTo>
                <a:lnTo>
                  <a:pt x="1049102" y="860031"/>
                </a:lnTo>
                <a:lnTo>
                  <a:pt x="1065190" y="849185"/>
                </a:lnTo>
                <a:lnTo>
                  <a:pt x="1076036" y="833098"/>
                </a:lnTo>
                <a:lnTo>
                  <a:pt x="1080013" y="813398"/>
                </a:lnTo>
                <a:lnTo>
                  <a:pt x="1080013" y="590617"/>
                </a:lnTo>
                <a:lnTo>
                  <a:pt x="1076036" y="570917"/>
                </a:lnTo>
                <a:lnTo>
                  <a:pt x="1065190" y="554830"/>
                </a:lnTo>
                <a:lnTo>
                  <a:pt x="1049102" y="543984"/>
                </a:lnTo>
                <a:lnTo>
                  <a:pt x="1029402" y="540006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857946" y="2221171"/>
            <a:ext cx="892175" cy="705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 MT"/>
                <a:cs typeface="Arial MT"/>
              </a:rPr>
              <a:t>CNN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Model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1000" spc="-20">
                <a:latin typeface="Arial MT"/>
                <a:cs typeface="Arial MT"/>
              </a:rPr>
              <a:t>Emotion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Output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2273630" y="860986"/>
            <a:ext cx="60960" cy="1831339"/>
            <a:chOff x="2273630" y="860986"/>
            <a:chExt cx="60960" cy="1831339"/>
          </a:xfrm>
        </p:grpSpPr>
        <p:sp>
          <p:nvSpPr>
            <p:cNvPr id="10" name="object 10" descr=""/>
            <p:cNvSpPr/>
            <p:nvPr/>
          </p:nvSpPr>
          <p:spPr>
            <a:xfrm>
              <a:off x="2303995" y="860986"/>
              <a:ext cx="0" cy="202565"/>
            </a:xfrm>
            <a:custGeom>
              <a:avLst/>
              <a:gdLst/>
              <a:ahLst/>
              <a:cxnLst/>
              <a:rect l="l" t="t" r="r" b="b"/>
              <a:pathLst>
                <a:path w="0" h="202565">
                  <a:moveTo>
                    <a:pt x="0" y="0"/>
                  </a:moveTo>
                  <a:lnTo>
                    <a:pt x="0" y="20196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277678" y="1043209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5" h="24765">
                  <a:moveTo>
                    <a:pt x="52633" y="0"/>
                  </a:moveTo>
                  <a:lnTo>
                    <a:pt x="44589" y="3855"/>
                  </a:lnTo>
                  <a:lnTo>
                    <a:pt x="36391" y="11102"/>
                  </a:lnTo>
                  <a:lnTo>
                    <a:pt x="29734" y="18966"/>
                  </a:lnTo>
                  <a:lnTo>
                    <a:pt x="26316" y="24671"/>
                  </a:lnTo>
                  <a:lnTo>
                    <a:pt x="22898" y="18966"/>
                  </a:lnTo>
                  <a:lnTo>
                    <a:pt x="16242" y="11102"/>
                  </a:lnTo>
                  <a:lnTo>
                    <a:pt x="8044" y="385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303995" y="1400993"/>
              <a:ext cx="0" cy="202565"/>
            </a:xfrm>
            <a:custGeom>
              <a:avLst/>
              <a:gdLst/>
              <a:ahLst/>
              <a:cxnLst/>
              <a:rect l="l" t="t" r="r" b="b"/>
              <a:pathLst>
                <a:path w="0" h="202565">
                  <a:moveTo>
                    <a:pt x="0" y="0"/>
                  </a:moveTo>
                  <a:lnTo>
                    <a:pt x="0" y="20196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277678" y="1583216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5" h="24765">
                  <a:moveTo>
                    <a:pt x="52633" y="0"/>
                  </a:moveTo>
                  <a:lnTo>
                    <a:pt x="44589" y="3855"/>
                  </a:lnTo>
                  <a:lnTo>
                    <a:pt x="36391" y="11102"/>
                  </a:lnTo>
                  <a:lnTo>
                    <a:pt x="29734" y="18966"/>
                  </a:lnTo>
                  <a:lnTo>
                    <a:pt x="26316" y="24671"/>
                  </a:lnTo>
                  <a:lnTo>
                    <a:pt x="22898" y="18966"/>
                  </a:lnTo>
                  <a:lnTo>
                    <a:pt x="16242" y="11102"/>
                  </a:lnTo>
                  <a:lnTo>
                    <a:pt x="8044" y="385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303995" y="1941000"/>
              <a:ext cx="0" cy="202565"/>
            </a:xfrm>
            <a:custGeom>
              <a:avLst/>
              <a:gdLst/>
              <a:ahLst/>
              <a:cxnLst/>
              <a:rect l="l" t="t" r="r" b="b"/>
              <a:pathLst>
                <a:path w="0" h="202564">
                  <a:moveTo>
                    <a:pt x="0" y="0"/>
                  </a:moveTo>
                  <a:lnTo>
                    <a:pt x="0" y="20196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277678" y="2123223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5" h="24764">
                  <a:moveTo>
                    <a:pt x="52633" y="0"/>
                  </a:moveTo>
                  <a:lnTo>
                    <a:pt x="44589" y="3855"/>
                  </a:lnTo>
                  <a:lnTo>
                    <a:pt x="36391" y="11102"/>
                  </a:lnTo>
                  <a:lnTo>
                    <a:pt x="29734" y="18966"/>
                  </a:lnTo>
                  <a:lnTo>
                    <a:pt x="26316" y="24671"/>
                  </a:lnTo>
                  <a:lnTo>
                    <a:pt x="22898" y="18966"/>
                  </a:lnTo>
                  <a:lnTo>
                    <a:pt x="16242" y="11102"/>
                  </a:lnTo>
                  <a:lnTo>
                    <a:pt x="8044" y="385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303995" y="2481007"/>
              <a:ext cx="0" cy="202565"/>
            </a:xfrm>
            <a:custGeom>
              <a:avLst/>
              <a:gdLst/>
              <a:ahLst/>
              <a:cxnLst/>
              <a:rect l="l" t="t" r="r" b="b"/>
              <a:pathLst>
                <a:path w="0" h="202564">
                  <a:moveTo>
                    <a:pt x="0" y="0"/>
                  </a:moveTo>
                  <a:lnTo>
                    <a:pt x="0" y="20196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277678" y="2663229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5" h="24764">
                  <a:moveTo>
                    <a:pt x="52633" y="0"/>
                  </a:moveTo>
                  <a:lnTo>
                    <a:pt x="44589" y="3855"/>
                  </a:lnTo>
                  <a:lnTo>
                    <a:pt x="36391" y="11102"/>
                  </a:lnTo>
                  <a:lnTo>
                    <a:pt x="29734" y="18966"/>
                  </a:lnTo>
                  <a:lnTo>
                    <a:pt x="26316" y="24671"/>
                  </a:lnTo>
                  <a:lnTo>
                    <a:pt x="22898" y="18966"/>
                  </a:lnTo>
                  <a:lnTo>
                    <a:pt x="16242" y="11102"/>
                  </a:lnTo>
                  <a:lnTo>
                    <a:pt x="8044" y="385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 descr=""/>
          <p:cNvGrpSpPr/>
          <p:nvPr/>
        </p:nvGrpSpPr>
        <p:grpSpPr>
          <a:xfrm>
            <a:off x="0" y="3337915"/>
            <a:ext cx="4608195" cy="118110"/>
            <a:chOff x="0" y="3337915"/>
            <a:chExt cx="4608195" cy="118110"/>
          </a:xfrm>
        </p:grpSpPr>
        <p:sp>
          <p:nvSpPr>
            <p:cNvPr id="19" name="object 19" descr=""/>
            <p:cNvSpPr/>
            <p:nvPr/>
          </p:nvSpPr>
          <p:spPr>
            <a:xfrm>
              <a:off x="0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520647" y="3337915"/>
              <a:ext cx="1567180" cy="118110"/>
            </a:xfrm>
            <a:custGeom>
              <a:avLst/>
              <a:gdLst/>
              <a:ahLst/>
              <a:cxnLst/>
              <a:rect l="l" t="t" r="r" b="b"/>
              <a:pathLst>
                <a:path w="1567180" h="118110">
                  <a:moveTo>
                    <a:pt x="156669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66697" y="118084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087357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MEA</a:t>
            </a:r>
            <a:r>
              <a:rPr dirty="0" spc="80"/>
              <a:t> </a:t>
            </a:r>
            <a:r>
              <a:rPr dirty="0" spc="-25"/>
              <a:t>Engineering</a:t>
            </a:r>
            <a:r>
              <a:rPr dirty="0" spc="85"/>
              <a:t> </a:t>
            </a:r>
            <a:r>
              <a:rPr dirty="0" spc="-20"/>
              <a:t>College</a:t>
            </a:r>
          </a:p>
        </p:txBody>
      </p: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 spc="-10"/>
              <a:t>Emotion</a:t>
            </a:r>
            <a:r>
              <a:rPr dirty="0" spc="30"/>
              <a:t> </a:t>
            </a:r>
            <a:r>
              <a:rPr dirty="0" spc="-25"/>
              <a:t>Recognition</a:t>
            </a:r>
            <a:r>
              <a:rPr dirty="0" spc="30"/>
              <a:t> </a:t>
            </a:r>
            <a:r>
              <a:rPr dirty="0" spc="-10"/>
              <a:t>System</a:t>
            </a:r>
          </a:p>
        </p:txBody>
      </p: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30"/>
              <a:t> </a:t>
            </a:r>
            <a:r>
              <a:rPr dirty="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/>
              <a:t>Methodology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186837"/>
            <a:ext cx="114214" cy="11421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51917" y="1173916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2932" y="1088946"/>
            <a:ext cx="1283335" cy="1075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65100">
              <a:lnSpc>
                <a:spcPct val="125299"/>
              </a:lnSpc>
              <a:spcBef>
                <a:spcPts val="100"/>
              </a:spcBef>
            </a:pPr>
            <a:r>
              <a:rPr dirty="0" sz="1100" spc="-30">
                <a:latin typeface="Arial MT"/>
                <a:cs typeface="Arial MT"/>
              </a:rPr>
              <a:t>Dataset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collection </a:t>
            </a:r>
            <a:r>
              <a:rPr dirty="0" sz="1100">
                <a:latin typeface="Arial MT"/>
                <a:cs typeface="Arial MT"/>
              </a:rPr>
              <a:t>Data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preprocessing </a:t>
            </a:r>
            <a:r>
              <a:rPr dirty="0" sz="1100" spc="-20">
                <a:latin typeface="Arial MT"/>
                <a:cs typeface="Arial MT"/>
              </a:rPr>
              <a:t>Model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training Evaluation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 spc="-50">
                <a:latin typeface="Arial MT"/>
                <a:cs typeface="Arial MT"/>
              </a:rPr>
              <a:t>Real-</a:t>
            </a:r>
            <a:r>
              <a:rPr dirty="0" sz="1100" spc="-20">
                <a:latin typeface="Arial MT"/>
                <a:cs typeface="Arial MT"/>
              </a:rPr>
              <a:t>time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deployment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396869"/>
            <a:ext cx="114214" cy="11421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51917" y="1383949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600">
              <a:latin typeface="Trebuchet MS"/>
              <a:cs typeface="Trebuchet MS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606915"/>
            <a:ext cx="114214" cy="11421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51917" y="1593982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600">
              <a:latin typeface="Trebuchet MS"/>
              <a:cs typeface="Trebuchet MS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1816947"/>
            <a:ext cx="114214" cy="114214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251917" y="1804014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600">
              <a:latin typeface="Trebuchet MS"/>
              <a:cs typeface="Trebuchet MS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2026980"/>
            <a:ext cx="114214" cy="114214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251917" y="2014047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600">
              <a:latin typeface="Trebuchet MS"/>
              <a:cs typeface="Trebuchet MS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0" y="3337915"/>
            <a:ext cx="4608195" cy="118110"/>
            <a:chOff x="0" y="3337915"/>
            <a:chExt cx="4608195" cy="118110"/>
          </a:xfrm>
        </p:grpSpPr>
        <p:sp>
          <p:nvSpPr>
            <p:cNvPr id="15" name="object 15" descr=""/>
            <p:cNvSpPr/>
            <p:nvPr/>
          </p:nvSpPr>
          <p:spPr>
            <a:xfrm>
              <a:off x="0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520647" y="3337915"/>
              <a:ext cx="1567180" cy="118110"/>
            </a:xfrm>
            <a:custGeom>
              <a:avLst/>
              <a:gdLst/>
              <a:ahLst/>
              <a:cxnLst/>
              <a:rect l="l" t="t" r="r" b="b"/>
              <a:pathLst>
                <a:path w="1567180" h="118110">
                  <a:moveTo>
                    <a:pt x="156669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66697" y="118084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087344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MEA</a:t>
            </a:r>
            <a:r>
              <a:rPr dirty="0" spc="80"/>
              <a:t> </a:t>
            </a:r>
            <a:r>
              <a:rPr dirty="0" spc="-25"/>
              <a:t>Engineering</a:t>
            </a:r>
            <a:r>
              <a:rPr dirty="0" spc="85"/>
              <a:t> </a:t>
            </a:r>
            <a:r>
              <a:rPr dirty="0" spc="-20"/>
              <a:t>College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 spc="-10"/>
              <a:t>Emotion</a:t>
            </a:r>
            <a:r>
              <a:rPr dirty="0" spc="30"/>
              <a:t> </a:t>
            </a:r>
            <a:r>
              <a:rPr dirty="0" spc="-25"/>
              <a:t>Recognition</a:t>
            </a:r>
            <a:r>
              <a:rPr dirty="0" spc="30"/>
              <a:t> </a:t>
            </a:r>
            <a:r>
              <a:rPr dirty="0" spc="-10"/>
              <a:t>System</a:t>
            </a: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30"/>
              <a:t> </a:t>
            </a:r>
            <a:r>
              <a:rPr dirty="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Implementation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16177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02932" y="1088946"/>
            <a:ext cx="1830705" cy="107569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 spc="-80">
                <a:latin typeface="Arial MT"/>
                <a:cs typeface="Arial MT"/>
              </a:rPr>
              <a:t>Used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FER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dataset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25299"/>
              </a:lnSpc>
            </a:pPr>
            <a:r>
              <a:rPr dirty="0" sz="1100">
                <a:latin typeface="Arial MT"/>
                <a:cs typeface="Arial MT"/>
              </a:rPr>
              <a:t>Built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CNN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multiple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layers Trained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model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classification </a:t>
            </a:r>
            <a:r>
              <a:rPr dirty="0" sz="1100" spc="-90">
                <a:latin typeface="Arial MT"/>
                <a:cs typeface="Arial MT"/>
              </a:rPr>
              <a:t>Saved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model</a:t>
            </a:r>
            <a:r>
              <a:rPr dirty="0" sz="1100">
                <a:latin typeface="Arial MT"/>
                <a:cs typeface="Arial MT"/>
              </a:rPr>
              <a:t> in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.keras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format </a:t>
            </a:r>
            <a:r>
              <a:rPr dirty="0" sz="1100" spc="-30">
                <a:latin typeface="Arial MT"/>
                <a:cs typeface="Arial MT"/>
              </a:rPr>
              <a:t>Integrated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OpenCV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26210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36242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846275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056307"/>
            <a:ext cx="65265" cy="65265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0" y="3337915"/>
            <a:ext cx="4608195" cy="118110"/>
            <a:chOff x="0" y="3337915"/>
            <a:chExt cx="4608195" cy="118110"/>
          </a:xfrm>
        </p:grpSpPr>
        <p:sp>
          <p:nvSpPr>
            <p:cNvPr id="10" name="object 10" descr=""/>
            <p:cNvSpPr/>
            <p:nvPr/>
          </p:nvSpPr>
          <p:spPr>
            <a:xfrm>
              <a:off x="0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520647" y="3337915"/>
              <a:ext cx="1567180" cy="118110"/>
            </a:xfrm>
            <a:custGeom>
              <a:avLst/>
              <a:gdLst/>
              <a:ahLst/>
              <a:cxnLst/>
              <a:rect l="l" t="t" r="r" b="b"/>
              <a:pathLst>
                <a:path w="1567180" h="118110">
                  <a:moveTo>
                    <a:pt x="156669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66697" y="118084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087357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MEA</a:t>
            </a:r>
            <a:r>
              <a:rPr dirty="0" spc="80"/>
              <a:t> </a:t>
            </a:r>
            <a:r>
              <a:rPr dirty="0" spc="-25"/>
              <a:t>Engineering</a:t>
            </a:r>
            <a:r>
              <a:rPr dirty="0" spc="85"/>
              <a:t> </a:t>
            </a:r>
            <a:r>
              <a:rPr dirty="0" spc="-20"/>
              <a:t>College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 spc="-10"/>
              <a:t>Emotion</a:t>
            </a:r>
            <a:r>
              <a:rPr dirty="0" spc="30"/>
              <a:t> </a:t>
            </a:r>
            <a:r>
              <a:rPr dirty="0" spc="-25"/>
              <a:t>Recognition</a:t>
            </a:r>
            <a:r>
              <a:rPr dirty="0" spc="30"/>
              <a:t> </a:t>
            </a:r>
            <a:r>
              <a:rPr dirty="0" spc="-10"/>
              <a:t>System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30"/>
              <a:t> </a:t>
            </a:r>
            <a:r>
              <a:rPr dirty="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51013"/>
            <a:ext cx="140335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b="1">
                <a:latin typeface="Arial"/>
                <a:cs typeface="Arial"/>
              </a:rPr>
              <a:t>Output</a:t>
            </a:r>
            <a:r>
              <a:rPr dirty="0" sz="1200" spc="65" b="1">
                <a:latin typeface="Arial"/>
                <a:cs typeface="Arial"/>
              </a:rPr>
              <a:t> </a:t>
            </a:r>
            <a:r>
              <a:rPr dirty="0" sz="1200" spc="-65" b="1">
                <a:latin typeface="Arial"/>
                <a:cs typeface="Arial"/>
              </a:rPr>
              <a:t>Screenshots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40205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2932" y="1112974"/>
            <a:ext cx="1665605" cy="44577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dirty="0" sz="1100" spc="-50" b="0">
                <a:latin typeface="Arial MT"/>
                <a:cs typeface="Arial MT"/>
              </a:rPr>
              <a:t>Real-</a:t>
            </a:r>
            <a:r>
              <a:rPr dirty="0" sz="1100" spc="-20" b="0">
                <a:latin typeface="Arial MT"/>
                <a:cs typeface="Arial MT"/>
              </a:rPr>
              <a:t>time</a:t>
            </a:r>
            <a:r>
              <a:rPr dirty="0" sz="1100" spc="-5" b="0">
                <a:latin typeface="Arial MT"/>
                <a:cs typeface="Arial MT"/>
              </a:rPr>
              <a:t> </a:t>
            </a:r>
            <a:r>
              <a:rPr dirty="0" sz="1100" spc="-30" b="0">
                <a:latin typeface="Arial MT"/>
                <a:cs typeface="Arial MT"/>
              </a:rPr>
              <a:t>emotion</a:t>
            </a:r>
            <a:r>
              <a:rPr dirty="0" sz="1100" b="0">
                <a:latin typeface="Arial MT"/>
                <a:cs typeface="Arial MT"/>
              </a:rPr>
              <a:t> </a:t>
            </a:r>
            <a:r>
              <a:rPr dirty="0" sz="1100" spc="-40" b="0">
                <a:latin typeface="Arial MT"/>
                <a:cs typeface="Arial MT"/>
              </a:rPr>
              <a:t>detection </a:t>
            </a:r>
            <a:r>
              <a:rPr dirty="0" sz="1100" spc="-85" b="0">
                <a:latin typeface="Arial MT"/>
                <a:cs typeface="Arial MT"/>
              </a:rPr>
              <a:t>Face</a:t>
            </a:r>
            <a:r>
              <a:rPr dirty="0" sz="1100" spc="10" b="0">
                <a:latin typeface="Arial MT"/>
                <a:cs typeface="Arial MT"/>
              </a:rPr>
              <a:t> </a:t>
            </a:r>
            <a:r>
              <a:rPr dirty="0" sz="1100" spc="-40" b="0">
                <a:latin typeface="Arial MT"/>
                <a:cs typeface="Arial MT"/>
              </a:rPr>
              <a:t>bounding</a:t>
            </a:r>
            <a:r>
              <a:rPr dirty="0" sz="1100" b="0">
                <a:latin typeface="Arial MT"/>
                <a:cs typeface="Arial MT"/>
              </a:rPr>
              <a:t> </a:t>
            </a:r>
            <a:r>
              <a:rPr dirty="0" sz="1100" spc="-25" b="0">
                <a:latin typeface="Arial MT"/>
                <a:cs typeface="Arial MT"/>
              </a:rPr>
              <a:t>box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50238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60271"/>
            <a:ext cx="65265" cy="6526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402932" y="1576818"/>
            <a:ext cx="14458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Arial MT"/>
                <a:cs typeface="Arial MT"/>
              </a:rPr>
              <a:t>Emotion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labels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displayed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0" y="3337915"/>
            <a:ext cx="4608195" cy="118110"/>
            <a:chOff x="0" y="3337915"/>
            <a:chExt cx="4608195" cy="118110"/>
          </a:xfrm>
        </p:grpSpPr>
        <p:sp>
          <p:nvSpPr>
            <p:cNvPr id="9" name="object 9" descr=""/>
            <p:cNvSpPr/>
            <p:nvPr/>
          </p:nvSpPr>
          <p:spPr>
            <a:xfrm>
              <a:off x="0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20647" y="3337915"/>
              <a:ext cx="1567180" cy="118110"/>
            </a:xfrm>
            <a:custGeom>
              <a:avLst/>
              <a:gdLst/>
              <a:ahLst/>
              <a:cxnLst/>
              <a:rect l="l" t="t" r="r" b="b"/>
              <a:pathLst>
                <a:path w="1567180" h="118110">
                  <a:moveTo>
                    <a:pt x="156669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66697" y="118084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87357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MEA</a:t>
            </a:r>
            <a:r>
              <a:rPr dirty="0" spc="80"/>
              <a:t> </a:t>
            </a:r>
            <a:r>
              <a:rPr dirty="0" spc="-25"/>
              <a:t>Engineering</a:t>
            </a:r>
            <a:r>
              <a:rPr dirty="0" spc="85"/>
              <a:t> </a:t>
            </a:r>
            <a:r>
              <a:rPr dirty="0" spc="-20"/>
              <a:t>College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 spc="-10"/>
              <a:t>Emotion</a:t>
            </a:r>
            <a:r>
              <a:rPr dirty="0" spc="30"/>
              <a:t> </a:t>
            </a:r>
            <a:r>
              <a:rPr dirty="0" spc="-25"/>
              <a:t>Recognition</a:t>
            </a:r>
            <a:r>
              <a:rPr dirty="0" spc="30"/>
              <a:t> </a:t>
            </a:r>
            <a:r>
              <a:rPr dirty="0" spc="-10"/>
              <a:t>System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30"/>
              <a:t> </a:t>
            </a:r>
            <a:r>
              <a:rPr dirty="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51013"/>
            <a:ext cx="6635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b="1">
                <a:latin typeface="Arial"/>
                <a:cs typeface="Arial"/>
              </a:rPr>
              <a:t>Output</a:t>
            </a:r>
            <a:r>
              <a:rPr dirty="0" sz="1200" spc="65" b="1">
                <a:latin typeface="Arial"/>
                <a:cs typeface="Arial"/>
              </a:rPr>
              <a:t> </a:t>
            </a:r>
            <a:r>
              <a:rPr dirty="0" sz="1200" spc="-50" b="1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626" y="791333"/>
            <a:ext cx="3464661" cy="1840601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0" y="3337915"/>
            <a:ext cx="4608195" cy="118110"/>
            <a:chOff x="0" y="3337915"/>
            <a:chExt cx="4608195" cy="118110"/>
          </a:xfrm>
        </p:grpSpPr>
        <p:sp>
          <p:nvSpPr>
            <p:cNvPr id="5" name="object 5" descr=""/>
            <p:cNvSpPr/>
            <p:nvPr/>
          </p:nvSpPr>
          <p:spPr>
            <a:xfrm>
              <a:off x="0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20647" y="3337915"/>
              <a:ext cx="1567180" cy="118110"/>
            </a:xfrm>
            <a:custGeom>
              <a:avLst/>
              <a:gdLst/>
              <a:ahLst/>
              <a:cxnLst/>
              <a:rect l="l" t="t" r="r" b="b"/>
              <a:pathLst>
                <a:path w="1567180" h="118110">
                  <a:moveTo>
                    <a:pt x="156669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66697" y="118084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87357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MEA</a:t>
            </a:r>
            <a:r>
              <a:rPr dirty="0" spc="80"/>
              <a:t> </a:t>
            </a:r>
            <a:r>
              <a:rPr dirty="0" spc="-25"/>
              <a:t>Engineering</a:t>
            </a:r>
            <a:r>
              <a:rPr dirty="0" spc="85"/>
              <a:t> </a:t>
            </a:r>
            <a:r>
              <a:rPr dirty="0" spc="-20"/>
              <a:t>College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 spc="-10"/>
              <a:t>Emotion</a:t>
            </a:r>
            <a:r>
              <a:rPr dirty="0" spc="30"/>
              <a:t> </a:t>
            </a:r>
            <a:r>
              <a:rPr dirty="0" spc="-25"/>
              <a:t>Recognition</a:t>
            </a:r>
            <a:r>
              <a:rPr dirty="0" spc="30"/>
              <a:t> </a:t>
            </a:r>
            <a:r>
              <a:rPr dirty="0" spc="-10"/>
              <a:t>System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30"/>
              <a:t> </a:t>
            </a:r>
            <a:r>
              <a:rPr dirty="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51013"/>
            <a:ext cx="6635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b="1">
                <a:latin typeface="Arial"/>
                <a:cs typeface="Arial"/>
              </a:rPr>
              <a:t>Output</a:t>
            </a:r>
            <a:r>
              <a:rPr dirty="0" sz="1200" spc="65" b="1">
                <a:latin typeface="Arial"/>
                <a:cs typeface="Arial"/>
              </a:rPr>
              <a:t> </a:t>
            </a:r>
            <a:r>
              <a:rPr dirty="0" sz="1200" spc="-50" b="1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187" y="559866"/>
            <a:ext cx="3031556" cy="2419197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0" y="3337915"/>
            <a:ext cx="4608195" cy="118110"/>
            <a:chOff x="0" y="3337915"/>
            <a:chExt cx="4608195" cy="118110"/>
          </a:xfrm>
        </p:grpSpPr>
        <p:sp>
          <p:nvSpPr>
            <p:cNvPr id="5" name="object 5" descr=""/>
            <p:cNvSpPr/>
            <p:nvPr/>
          </p:nvSpPr>
          <p:spPr>
            <a:xfrm>
              <a:off x="0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20647" y="3337915"/>
              <a:ext cx="1567180" cy="118110"/>
            </a:xfrm>
            <a:custGeom>
              <a:avLst/>
              <a:gdLst/>
              <a:ahLst/>
              <a:cxnLst/>
              <a:rect l="l" t="t" r="r" b="b"/>
              <a:pathLst>
                <a:path w="1567180" h="118110">
                  <a:moveTo>
                    <a:pt x="156669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66697" y="118084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87357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MEA</a:t>
            </a:r>
            <a:r>
              <a:rPr dirty="0" spc="80"/>
              <a:t> </a:t>
            </a:r>
            <a:r>
              <a:rPr dirty="0" spc="-25"/>
              <a:t>Engineering</a:t>
            </a:r>
            <a:r>
              <a:rPr dirty="0" spc="85"/>
              <a:t> </a:t>
            </a:r>
            <a:r>
              <a:rPr dirty="0" spc="-20"/>
              <a:t>College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 spc="-10"/>
              <a:t>Emotion</a:t>
            </a:r>
            <a:r>
              <a:rPr dirty="0" spc="30"/>
              <a:t> </a:t>
            </a:r>
            <a:r>
              <a:rPr dirty="0" spc="-25"/>
              <a:t>Recognition</a:t>
            </a:r>
            <a:r>
              <a:rPr dirty="0" spc="30"/>
              <a:t> </a:t>
            </a:r>
            <a:r>
              <a:rPr dirty="0" spc="-10"/>
              <a:t>System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30"/>
              <a:t> </a:t>
            </a:r>
            <a:r>
              <a:rPr dirty="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51013"/>
            <a:ext cx="6635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b="1">
                <a:latin typeface="Arial"/>
                <a:cs typeface="Arial"/>
              </a:rPr>
              <a:t>Output</a:t>
            </a:r>
            <a:r>
              <a:rPr dirty="0" sz="1200" spc="65" b="1">
                <a:latin typeface="Arial"/>
                <a:cs typeface="Arial"/>
              </a:rPr>
              <a:t> </a:t>
            </a:r>
            <a:r>
              <a:rPr dirty="0" sz="1200" spc="-50" b="1"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187" y="559866"/>
            <a:ext cx="3031556" cy="2419197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0" y="3337915"/>
            <a:ext cx="4608195" cy="118110"/>
            <a:chOff x="0" y="3337915"/>
            <a:chExt cx="4608195" cy="118110"/>
          </a:xfrm>
        </p:grpSpPr>
        <p:sp>
          <p:nvSpPr>
            <p:cNvPr id="5" name="object 5" descr=""/>
            <p:cNvSpPr/>
            <p:nvPr/>
          </p:nvSpPr>
          <p:spPr>
            <a:xfrm>
              <a:off x="0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20647" y="3337915"/>
              <a:ext cx="1567180" cy="118110"/>
            </a:xfrm>
            <a:custGeom>
              <a:avLst/>
              <a:gdLst/>
              <a:ahLst/>
              <a:cxnLst/>
              <a:rect l="l" t="t" r="r" b="b"/>
              <a:pathLst>
                <a:path w="1567180" h="118110">
                  <a:moveTo>
                    <a:pt x="156669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66697" y="118084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87357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MEA</a:t>
            </a:r>
            <a:r>
              <a:rPr dirty="0" spc="80"/>
              <a:t> </a:t>
            </a:r>
            <a:r>
              <a:rPr dirty="0" spc="-25"/>
              <a:t>Engineering</a:t>
            </a:r>
            <a:r>
              <a:rPr dirty="0" spc="85"/>
              <a:t> </a:t>
            </a:r>
            <a:r>
              <a:rPr dirty="0" spc="-20"/>
              <a:t>College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 spc="-10"/>
              <a:t>Emotion</a:t>
            </a:r>
            <a:r>
              <a:rPr dirty="0" spc="30"/>
              <a:t> </a:t>
            </a:r>
            <a:r>
              <a:rPr dirty="0" spc="-25"/>
              <a:t>Recognition</a:t>
            </a:r>
            <a:r>
              <a:rPr dirty="0" spc="30"/>
              <a:t> </a:t>
            </a:r>
            <a:r>
              <a:rPr dirty="0" spc="-10"/>
              <a:t>System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30"/>
              <a:t> </a:t>
            </a:r>
            <a:r>
              <a:rPr dirty="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GitHub</a:t>
            </a:r>
            <a:r>
              <a:rPr dirty="0" spc="20"/>
              <a:t> </a:t>
            </a:r>
            <a:r>
              <a:rPr dirty="0" spc="-40"/>
              <a:t>Overview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01027" y="582610"/>
            <a:ext cx="3406140" cy="51371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dirty="0" sz="1100" b="1">
                <a:latin typeface="Arial"/>
                <a:cs typeface="Arial"/>
              </a:rPr>
              <a:t>GitHub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Link: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dirty="0" sz="1100" spc="85">
                <a:latin typeface="Calibri"/>
                <a:cs typeface="Calibri"/>
              </a:rPr>
              <a:t>https://github.com/riishaal/EmotionDetection</a:t>
            </a:r>
            <a:r>
              <a:rPr dirty="0" baseline="-10416" sz="1200" spc="127">
                <a:latin typeface="Trebuchet MS"/>
                <a:cs typeface="Trebuchet MS"/>
              </a:rPr>
              <a:t>6</a:t>
            </a:r>
            <a:r>
              <a:rPr dirty="0" sz="1100" spc="85">
                <a:latin typeface="Arial MT"/>
                <a:cs typeface="Arial MT"/>
              </a:rPr>
              <a:t>0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67" y="1279180"/>
            <a:ext cx="2165445" cy="115039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35038" y="2658477"/>
            <a:ext cx="14801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90">
                <a:latin typeface="Calibri"/>
                <a:cs typeface="Calibri"/>
              </a:rPr>
              <a:t>Repository</a:t>
            </a:r>
            <a:r>
              <a:rPr dirty="0" sz="1100" spc="335">
                <a:latin typeface="Calibri"/>
                <a:cs typeface="Calibri"/>
              </a:rPr>
              <a:t> </a:t>
            </a:r>
            <a:r>
              <a:rPr dirty="0" sz="1100" spc="95">
                <a:latin typeface="Calibri"/>
                <a:cs typeface="Calibri"/>
              </a:rPr>
              <a:t>Structure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0185" y="1279180"/>
            <a:ext cx="2165445" cy="1150392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911055" y="2658477"/>
            <a:ext cx="10439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Calibri"/>
                <a:cs typeface="Calibri"/>
              </a:rPr>
              <a:t>Commit</a:t>
            </a:r>
            <a:r>
              <a:rPr dirty="0" sz="1100" spc="215">
                <a:latin typeface="Calibri"/>
                <a:cs typeface="Calibri"/>
              </a:rPr>
              <a:t> </a:t>
            </a:r>
            <a:r>
              <a:rPr dirty="0" sz="1100" spc="100">
                <a:latin typeface="Calibri"/>
                <a:cs typeface="Calibri"/>
              </a:rPr>
              <a:t>History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0" y="3337915"/>
            <a:ext cx="4608195" cy="118110"/>
            <a:chOff x="0" y="3337915"/>
            <a:chExt cx="4608195" cy="118110"/>
          </a:xfrm>
        </p:grpSpPr>
        <p:sp>
          <p:nvSpPr>
            <p:cNvPr id="9" name="object 9" descr=""/>
            <p:cNvSpPr/>
            <p:nvPr/>
          </p:nvSpPr>
          <p:spPr>
            <a:xfrm>
              <a:off x="0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20647" y="3337915"/>
              <a:ext cx="1567180" cy="118110"/>
            </a:xfrm>
            <a:custGeom>
              <a:avLst/>
              <a:gdLst/>
              <a:ahLst/>
              <a:cxnLst/>
              <a:rect l="l" t="t" r="r" b="b"/>
              <a:pathLst>
                <a:path w="1567180" h="118110">
                  <a:moveTo>
                    <a:pt x="156669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66697" y="118084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87357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MEA</a:t>
            </a:r>
            <a:r>
              <a:rPr dirty="0" spc="80"/>
              <a:t> </a:t>
            </a:r>
            <a:r>
              <a:rPr dirty="0" spc="-25"/>
              <a:t>Engineering</a:t>
            </a:r>
            <a:r>
              <a:rPr dirty="0" spc="85"/>
              <a:t> </a:t>
            </a:r>
            <a:r>
              <a:rPr dirty="0" spc="-20"/>
              <a:t>College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 spc="-10"/>
              <a:t>Emotion</a:t>
            </a:r>
            <a:r>
              <a:rPr dirty="0" spc="30"/>
              <a:t> </a:t>
            </a:r>
            <a:r>
              <a:rPr dirty="0" spc="-25"/>
              <a:t>Recognition</a:t>
            </a:r>
            <a:r>
              <a:rPr dirty="0" spc="30"/>
              <a:t> </a:t>
            </a:r>
            <a:r>
              <a:rPr dirty="0" spc="-10"/>
              <a:t>System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30"/>
              <a:t> </a:t>
            </a:r>
            <a:r>
              <a:rPr dirty="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1013"/>
            <a:ext cx="122428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5" b="1">
                <a:latin typeface="Arial"/>
                <a:cs typeface="Arial"/>
              </a:rPr>
              <a:t>Challenges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35" b="1">
                <a:latin typeface="Arial"/>
                <a:cs typeface="Arial"/>
              </a:rPr>
              <a:t>Faced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00187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02932" y="1172957"/>
            <a:ext cx="1689735" cy="866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50520">
              <a:lnSpc>
                <a:spcPct val="125299"/>
              </a:lnSpc>
              <a:spcBef>
                <a:spcPts val="100"/>
              </a:spcBef>
            </a:pPr>
            <a:r>
              <a:rPr dirty="0" sz="1100" spc="-30">
                <a:latin typeface="Arial MT"/>
                <a:cs typeface="Arial MT"/>
              </a:rPr>
              <a:t>Dataset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imbalance </a:t>
            </a:r>
            <a:r>
              <a:rPr dirty="0" sz="1100" spc="-45">
                <a:latin typeface="Arial MT"/>
                <a:cs typeface="Arial MT"/>
              </a:rPr>
              <a:t>Accuracy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improvement Real-</a:t>
            </a:r>
            <a:r>
              <a:rPr dirty="0" sz="1100" spc="-20">
                <a:latin typeface="Arial MT"/>
                <a:cs typeface="Arial MT"/>
              </a:rPr>
              <a:t>time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processing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 spc="-10">
                <a:latin typeface="Arial MT"/>
                <a:cs typeface="Arial MT"/>
              </a:rPr>
              <a:t>Platform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compatibility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issues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10220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20253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30285"/>
            <a:ext cx="65265" cy="65265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0" y="3337915"/>
            <a:ext cx="4608195" cy="118110"/>
            <a:chOff x="0" y="3337915"/>
            <a:chExt cx="4608195" cy="118110"/>
          </a:xfrm>
        </p:grpSpPr>
        <p:sp>
          <p:nvSpPr>
            <p:cNvPr id="9" name="object 9" descr=""/>
            <p:cNvSpPr/>
            <p:nvPr/>
          </p:nvSpPr>
          <p:spPr>
            <a:xfrm>
              <a:off x="0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20647" y="3337915"/>
              <a:ext cx="1567180" cy="118110"/>
            </a:xfrm>
            <a:custGeom>
              <a:avLst/>
              <a:gdLst/>
              <a:ahLst/>
              <a:cxnLst/>
              <a:rect l="l" t="t" r="r" b="b"/>
              <a:pathLst>
                <a:path w="1567180" h="118110">
                  <a:moveTo>
                    <a:pt x="156669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66697" y="118084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87357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MEA</a:t>
            </a:r>
            <a:r>
              <a:rPr dirty="0" spc="80"/>
              <a:t> </a:t>
            </a:r>
            <a:r>
              <a:rPr dirty="0" spc="-25"/>
              <a:t>Engineering</a:t>
            </a:r>
            <a:r>
              <a:rPr dirty="0" spc="85"/>
              <a:t> </a:t>
            </a:r>
            <a:r>
              <a:rPr dirty="0" spc="-20"/>
              <a:t>College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 spc="-10"/>
              <a:t>Emotion</a:t>
            </a:r>
            <a:r>
              <a:rPr dirty="0" spc="30"/>
              <a:t> </a:t>
            </a:r>
            <a:r>
              <a:rPr dirty="0" spc="-25"/>
              <a:t>Recognition</a:t>
            </a:r>
            <a:r>
              <a:rPr dirty="0" spc="30"/>
              <a:t> </a:t>
            </a:r>
            <a:r>
              <a:rPr dirty="0" spc="-10"/>
              <a:t>System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30"/>
              <a:t> </a:t>
            </a:r>
            <a:r>
              <a:rPr dirty="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Results</a:t>
            </a:r>
            <a:r>
              <a:rPr dirty="0" spc="-25"/>
              <a:t> </a:t>
            </a:r>
            <a:r>
              <a:rPr dirty="0" spc="-10"/>
              <a:t>and</a:t>
            </a:r>
            <a:r>
              <a:rPr dirty="0" spc="-30"/>
              <a:t> </a:t>
            </a:r>
            <a:r>
              <a:rPr dirty="0" spc="-70"/>
              <a:t>Conclusion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00187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02932" y="1172957"/>
            <a:ext cx="2484120" cy="866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dirty="0" sz="1100" spc="-65">
                <a:latin typeface="Arial MT"/>
                <a:cs typeface="Arial MT"/>
              </a:rPr>
              <a:t>Successfully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implemented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real-</a:t>
            </a:r>
            <a:r>
              <a:rPr dirty="0" sz="1100" spc="-10">
                <a:latin typeface="Arial MT"/>
                <a:cs typeface="Arial MT"/>
              </a:rPr>
              <a:t>time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system </a:t>
            </a:r>
            <a:r>
              <a:rPr dirty="0" sz="1100" spc="-40">
                <a:latin typeface="Arial MT"/>
                <a:cs typeface="Arial MT"/>
              </a:rPr>
              <a:t>Achieved</a:t>
            </a:r>
            <a:r>
              <a:rPr dirty="0" sz="1100" spc="24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55%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accuracy</a:t>
            </a:r>
            <a:endParaRPr sz="1100">
              <a:latin typeface="Arial MT"/>
              <a:cs typeface="Arial MT"/>
            </a:endParaRPr>
          </a:p>
          <a:p>
            <a:pPr marL="12700" marR="817244">
              <a:lnSpc>
                <a:spcPct val="125299"/>
              </a:lnSpc>
            </a:pPr>
            <a:r>
              <a:rPr dirty="0" sz="1100" spc="-10">
                <a:latin typeface="Arial MT"/>
                <a:cs typeface="Arial MT"/>
              </a:rPr>
              <a:t>Efficient</a:t>
            </a:r>
            <a:r>
              <a:rPr dirty="0" sz="1100" spc="-6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on</a:t>
            </a:r>
            <a:r>
              <a:rPr dirty="0" sz="1100" spc="-6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CPU </a:t>
            </a:r>
            <a:r>
              <a:rPr dirty="0" sz="1100" spc="-50">
                <a:latin typeface="Arial MT"/>
                <a:cs typeface="Arial MT"/>
              </a:rPr>
              <a:t>Demonstrates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AI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application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10220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20253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30285"/>
            <a:ext cx="65265" cy="65265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0" y="3337915"/>
            <a:ext cx="4608195" cy="118110"/>
            <a:chOff x="0" y="3337915"/>
            <a:chExt cx="4608195" cy="118110"/>
          </a:xfrm>
        </p:grpSpPr>
        <p:sp>
          <p:nvSpPr>
            <p:cNvPr id="9" name="object 9" descr=""/>
            <p:cNvSpPr/>
            <p:nvPr/>
          </p:nvSpPr>
          <p:spPr>
            <a:xfrm>
              <a:off x="0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20647" y="3337915"/>
              <a:ext cx="1567180" cy="118110"/>
            </a:xfrm>
            <a:custGeom>
              <a:avLst/>
              <a:gdLst/>
              <a:ahLst/>
              <a:cxnLst/>
              <a:rect l="l" t="t" r="r" b="b"/>
              <a:pathLst>
                <a:path w="1567180" h="118110">
                  <a:moveTo>
                    <a:pt x="156669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66697" y="118084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87357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MEA</a:t>
            </a:r>
            <a:r>
              <a:rPr dirty="0" spc="80"/>
              <a:t> </a:t>
            </a:r>
            <a:r>
              <a:rPr dirty="0" spc="-25"/>
              <a:t>Engineering</a:t>
            </a:r>
            <a:r>
              <a:rPr dirty="0" spc="85"/>
              <a:t> </a:t>
            </a:r>
            <a:r>
              <a:rPr dirty="0" spc="-20"/>
              <a:t>College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 spc="-10"/>
              <a:t>Emotion</a:t>
            </a:r>
            <a:r>
              <a:rPr dirty="0" spc="30"/>
              <a:t> </a:t>
            </a:r>
            <a:r>
              <a:rPr dirty="0" spc="-25"/>
              <a:t>Recognition</a:t>
            </a:r>
            <a:r>
              <a:rPr dirty="0" spc="30"/>
              <a:t> </a:t>
            </a:r>
            <a:r>
              <a:rPr dirty="0" spc="-10"/>
              <a:t>System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30"/>
              <a:t> </a:t>
            </a:r>
            <a:r>
              <a:rPr dirty="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1013"/>
            <a:ext cx="95313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0" b="1">
                <a:latin typeface="Arial"/>
                <a:cs typeface="Arial"/>
              </a:rPr>
              <a:t>Future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60" b="1">
                <a:latin typeface="Arial"/>
                <a:cs typeface="Arial"/>
              </a:rPr>
              <a:t>Scope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00187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02932" y="1172957"/>
            <a:ext cx="2404745" cy="866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dirty="0" sz="1100" spc="-45">
                <a:latin typeface="Arial MT"/>
                <a:cs typeface="Arial MT"/>
              </a:rPr>
              <a:t>Improve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accuracy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using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advanced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models </a:t>
            </a:r>
            <a:r>
              <a:rPr dirty="0" sz="1100" spc="-45">
                <a:latin typeface="Arial MT"/>
                <a:cs typeface="Arial MT"/>
              </a:rPr>
              <a:t>Deploy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5">
                <a:latin typeface="Arial MT"/>
                <a:cs typeface="Arial MT"/>
              </a:rPr>
              <a:t>as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mobile/web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app</a:t>
            </a:r>
            <a:endParaRPr sz="1100">
              <a:latin typeface="Arial MT"/>
              <a:cs typeface="Arial MT"/>
            </a:endParaRPr>
          </a:p>
          <a:p>
            <a:pPr marL="12700" marR="1191895">
              <a:lnSpc>
                <a:spcPct val="125299"/>
              </a:lnSpc>
            </a:pPr>
            <a:r>
              <a:rPr dirty="0" sz="1100" spc="-100">
                <a:latin typeface="Arial MT"/>
                <a:cs typeface="Arial MT"/>
              </a:rPr>
              <a:t>Use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transfer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learning </a:t>
            </a:r>
            <a:r>
              <a:rPr dirty="0" sz="1100">
                <a:latin typeface="Arial MT"/>
                <a:cs typeface="Arial MT"/>
              </a:rPr>
              <a:t>Add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analytics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10220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20253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30285"/>
            <a:ext cx="65265" cy="65265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0" y="3337915"/>
            <a:ext cx="4608195" cy="118110"/>
            <a:chOff x="0" y="3337915"/>
            <a:chExt cx="4608195" cy="118110"/>
          </a:xfrm>
        </p:grpSpPr>
        <p:sp>
          <p:nvSpPr>
            <p:cNvPr id="9" name="object 9" descr=""/>
            <p:cNvSpPr/>
            <p:nvPr/>
          </p:nvSpPr>
          <p:spPr>
            <a:xfrm>
              <a:off x="0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20647" y="3337915"/>
              <a:ext cx="1567180" cy="118110"/>
            </a:xfrm>
            <a:custGeom>
              <a:avLst/>
              <a:gdLst/>
              <a:ahLst/>
              <a:cxnLst/>
              <a:rect l="l" t="t" r="r" b="b"/>
              <a:pathLst>
                <a:path w="1567180" h="118110">
                  <a:moveTo>
                    <a:pt x="156669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66697" y="118084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87357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MEA</a:t>
            </a:r>
            <a:r>
              <a:rPr dirty="0" spc="80"/>
              <a:t> </a:t>
            </a:r>
            <a:r>
              <a:rPr dirty="0" spc="-25"/>
              <a:t>Engineering</a:t>
            </a:r>
            <a:r>
              <a:rPr dirty="0" spc="85"/>
              <a:t> </a:t>
            </a:r>
            <a:r>
              <a:rPr dirty="0" spc="-20"/>
              <a:t>College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 spc="-10"/>
              <a:t>Emotion</a:t>
            </a:r>
            <a:r>
              <a:rPr dirty="0" spc="30"/>
              <a:t> </a:t>
            </a:r>
            <a:r>
              <a:rPr dirty="0" spc="-25"/>
              <a:t>Recognition</a:t>
            </a:r>
            <a:r>
              <a:rPr dirty="0" spc="30"/>
              <a:t> </a:t>
            </a:r>
            <a:r>
              <a:rPr dirty="0" spc="-10"/>
              <a:t>System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30"/>
              <a:t> </a:t>
            </a:r>
            <a:r>
              <a:rPr dirty="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5"/>
              <a:t>References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70483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60"/>
              <a:t>TensorFlow</a:t>
            </a:r>
            <a:r>
              <a:rPr dirty="0"/>
              <a:t> </a:t>
            </a:r>
            <a:r>
              <a:rPr dirty="0" spc="-10"/>
              <a:t>Documentation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>
                <a:latin typeface="Calibri"/>
                <a:cs typeface="Calibri"/>
                <a:hlinkClick r:id="rId3"/>
              </a:rPr>
              <a:t>https://www.tensorflow.org/</a:t>
            </a: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pc="-50"/>
              <a:t>OpenCV</a:t>
            </a:r>
            <a:r>
              <a:rPr dirty="0" spc="-25"/>
              <a:t> </a:t>
            </a:r>
            <a:r>
              <a:rPr dirty="0" spc="-10"/>
              <a:t>Documentation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90">
                <a:latin typeface="Calibri"/>
                <a:cs typeface="Calibri"/>
              </a:rPr>
              <a:t>https://opencv.org/</a:t>
            </a: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pc="-80"/>
              <a:t>FER-</a:t>
            </a:r>
            <a:r>
              <a:rPr dirty="0" spc="-55"/>
              <a:t>2013</a:t>
            </a:r>
            <a:r>
              <a:rPr dirty="0" spc="5"/>
              <a:t> </a:t>
            </a:r>
            <a:r>
              <a:rPr dirty="0" spc="-30"/>
              <a:t>Dataset</a:t>
            </a:r>
            <a:r>
              <a:rPr dirty="0" spc="5"/>
              <a:t> </a:t>
            </a:r>
            <a:r>
              <a:rPr dirty="0" spc="-10"/>
              <a:t>(Kaggle)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50">
                <a:latin typeface="Calibri"/>
                <a:cs typeface="Calibri"/>
                <a:hlinkClick r:id="rId4"/>
              </a:rPr>
              <a:t>https://www.kaggle.com/datasets/msambare/fer2013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pc="-60"/>
              <a:t>Keras</a:t>
            </a:r>
            <a:r>
              <a:rPr dirty="0" spc="10"/>
              <a:t> </a:t>
            </a:r>
            <a:r>
              <a:rPr dirty="0" spc="-10"/>
              <a:t>Documentation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125">
                <a:latin typeface="Calibri"/>
                <a:cs typeface="Calibri"/>
              </a:rPr>
              <a:t>https://keras.io/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pc="-40"/>
              <a:t>Facial</a:t>
            </a:r>
            <a:r>
              <a:rPr dirty="0" spc="25"/>
              <a:t> </a:t>
            </a:r>
            <a:r>
              <a:rPr dirty="0" spc="-75"/>
              <a:t>Expression</a:t>
            </a:r>
            <a:r>
              <a:rPr dirty="0" spc="25"/>
              <a:t> </a:t>
            </a:r>
            <a:r>
              <a:rPr dirty="0" spc="-45"/>
              <a:t>Recognition</a:t>
            </a:r>
            <a:r>
              <a:rPr dirty="0" spc="25"/>
              <a:t> </a:t>
            </a:r>
            <a:r>
              <a:rPr dirty="0" spc="-50"/>
              <a:t>using</a:t>
            </a:r>
            <a:r>
              <a:rPr dirty="0" spc="25"/>
              <a:t> </a:t>
            </a:r>
            <a:r>
              <a:rPr dirty="0" spc="-25"/>
              <a:t>CNN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95">
                <a:latin typeface="Calibri"/>
                <a:cs typeface="Calibri"/>
              </a:rPr>
              <a:t>IEEE</a:t>
            </a:r>
            <a:r>
              <a:rPr dirty="0" spc="395">
                <a:latin typeface="Calibri"/>
                <a:cs typeface="Calibri"/>
              </a:rPr>
              <a:t> </a:t>
            </a:r>
            <a:r>
              <a:rPr dirty="0" spc="50">
                <a:latin typeface="Calibri"/>
                <a:cs typeface="Calibri"/>
              </a:rPr>
              <a:t>Paper</a:t>
            </a:r>
            <a:r>
              <a:rPr dirty="0" spc="395">
                <a:latin typeface="Calibri"/>
                <a:cs typeface="Calibri"/>
              </a:rPr>
              <a:t> </a:t>
            </a:r>
            <a:r>
              <a:rPr dirty="0" spc="140">
                <a:latin typeface="Calibri"/>
                <a:cs typeface="Calibri"/>
              </a:rPr>
              <a:t>/</a:t>
            </a:r>
            <a:r>
              <a:rPr dirty="0" spc="39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Google</a:t>
            </a:r>
            <a:r>
              <a:rPr dirty="0" spc="395">
                <a:latin typeface="Calibri"/>
                <a:cs typeface="Calibri"/>
              </a:rPr>
              <a:t> </a:t>
            </a:r>
            <a:r>
              <a:rPr dirty="0" spc="90">
                <a:latin typeface="Calibri"/>
                <a:cs typeface="Calibri"/>
              </a:rPr>
              <a:t>Scholar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252588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634706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016810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2398915"/>
            <a:ext cx="65265" cy="65265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0" y="3337915"/>
            <a:ext cx="4608195" cy="118110"/>
            <a:chOff x="0" y="3337915"/>
            <a:chExt cx="4608195" cy="118110"/>
          </a:xfrm>
        </p:grpSpPr>
        <p:sp>
          <p:nvSpPr>
            <p:cNvPr id="10" name="object 10" descr=""/>
            <p:cNvSpPr/>
            <p:nvPr/>
          </p:nvSpPr>
          <p:spPr>
            <a:xfrm>
              <a:off x="0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520647" y="3337915"/>
              <a:ext cx="1567180" cy="118110"/>
            </a:xfrm>
            <a:custGeom>
              <a:avLst/>
              <a:gdLst/>
              <a:ahLst/>
              <a:cxnLst/>
              <a:rect l="l" t="t" r="r" b="b"/>
              <a:pathLst>
                <a:path w="1567180" h="118110">
                  <a:moveTo>
                    <a:pt x="156669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66697" y="118084"/>
                  </a:lnTo>
                  <a:lnTo>
                    <a:pt x="1566697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087357" y="3337915"/>
              <a:ext cx="1520825" cy="118110"/>
            </a:xfrm>
            <a:custGeom>
              <a:avLst/>
              <a:gdLst/>
              <a:ahLst/>
              <a:cxnLst/>
              <a:rect l="l" t="t" r="r" b="b"/>
              <a:pathLst>
                <a:path w="1520825" h="118110">
                  <a:moveTo>
                    <a:pt x="1520647" y="0"/>
                  </a:moveTo>
                  <a:lnTo>
                    <a:pt x="0" y="0"/>
                  </a:lnTo>
                  <a:lnTo>
                    <a:pt x="0" y="118084"/>
                  </a:lnTo>
                  <a:lnTo>
                    <a:pt x="1520647" y="118084"/>
                  </a:lnTo>
                  <a:lnTo>
                    <a:pt x="1520647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MEA</a:t>
            </a:r>
            <a:r>
              <a:rPr dirty="0" spc="80"/>
              <a:t> </a:t>
            </a:r>
            <a:r>
              <a:rPr dirty="0" spc="-25"/>
              <a:t>Engineering</a:t>
            </a:r>
            <a:r>
              <a:rPr dirty="0" spc="85"/>
              <a:t> </a:t>
            </a:r>
            <a:r>
              <a:rPr dirty="0" spc="-20"/>
              <a:t>College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 spc="-10"/>
              <a:t>Emotion</a:t>
            </a:r>
            <a:r>
              <a:rPr dirty="0" spc="30"/>
              <a:t> </a:t>
            </a:r>
            <a:r>
              <a:rPr dirty="0" spc="-25"/>
              <a:t>Recognition</a:t>
            </a:r>
            <a:r>
              <a:rPr dirty="0" spc="30"/>
              <a:t> </a:t>
            </a:r>
            <a:r>
              <a:rPr dirty="0" spc="-10"/>
              <a:t>System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30"/>
              <a:t> </a:t>
            </a:r>
            <a:r>
              <a:rPr dirty="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Emotion Recognition System</dc:title>
  <dcterms:created xsi:type="dcterms:W3CDTF">2026-03-26T02:14:45Z</dcterms:created>
  <dcterms:modified xsi:type="dcterms:W3CDTF">2026-03-26T02:14:45Z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2026-03-26T00:00:00Z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